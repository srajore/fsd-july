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2233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diving into a critical problem in AI agents: memory. By the end, you'll understand WHY agents forget, WHAT memory really is, and HOW to solve it with three different approaches. This knowledge will let you build stateful agents that can have real conversations.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intuitive: users introduce themselves, ask questions, give context... but the agent seems to have no memory. It's like talking to a receptionist with no notepad. Every call is a fresh start. Let's understand WHY this happens.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LLMs have ZERO internal memory. Every time you call it, it only sees what you give it. The solution is simple in concept: keep a conversation history and send the FULL history on every call. The question then becomes: WHO manages that history? That's where our three approaches come 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'memory' is just a fancy word for conversation history. It's a list. Every new call to the LLM includes the full history. The question is: Do YOU manage the list, or do you let a framework manage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1 is the 'you do everything' method. You manually keep a list and append to it. It's perfect for learning and understanding the concept, but it doesn't scale. When you restart the kernel, the list is gone. If you have multiple users, you need to manage separate lists for each.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'let the framework do it' approach. You add one line: checkpointer=MemorySaver(). Then you give each conversation a unique thread_id, and LangGraph handles keeping the history. But it's stored in RAM, so if you restart the server or the kernel, it's gone.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production-grade solution. History is saved to a SQLite database on disk. Restart the server, restart the kernel—the conversation is still there. When you reconnect with the same thread_id, the agent picks up exactly where it left off. This is what you'd use in real applications.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quick comparison. If you're learning, use Approach 1. If you're building something real, use Approach 3. Approach 2 is the middle ground for testing.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thread_id is critical. It's how LangGraph knows which conversation you're continuing. Same thread_id = same history. Different thread_id = fresh conversation. This is how you support multiple users without their conversations interfering with each other.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fun part! We move to the notebook and run each approach. Watch how the agent behavior changes based on which memory approach we use. The problem and solution will become crystal clear when you see it in action.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marL="0" indent="0" algn="l">
              <a:buNone/>
            </a:pPr>
            <a:r>
              <a:rPr lang="en-US" sz="4800" b="1" dirty="0">
                <a:solidFill>
                  <a:srgbClr val="FFFFFF"/>
                </a:solidFill>
                <a:latin typeface="Arial" pitchFamily="34" charset="0"/>
                <a:ea typeface="Arial" pitchFamily="34" charset="-122"/>
                <a:cs typeface="Arial" pitchFamily="34" charset="-120"/>
              </a:rPr>
              <a:t>Agent Memory</a:t>
            </a:r>
            <a:endParaRPr lang="en-US" sz="4800" dirty="0"/>
          </a:p>
        </p:txBody>
      </p:sp>
      <p:sp>
        <p:nvSpPr>
          <p:cNvPr id="3" name="Text 1"/>
          <p:cNvSpPr/>
          <p:nvPr/>
        </p:nvSpPr>
        <p:spPr>
          <a:xfrm>
            <a:off x="457200" y="2377440"/>
            <a:ext cx="8229600" cy="548640"/>
          </a:xfrm>
          <a:prstGeom prst="rect">
            <a:avLst/>
          </a:prstGeom>
          <a:noFill/>
          <a:ln/>
        </p:spPr>
        <p:txBody>
          <a:bodyPr wrap="square" rtlCol="0" anchor="ctr"/>
          <a:lstStyle/>
          <a:p>
            <a:pPr marL="0" indent="0" algn="l">
              <a:buNone/>
            </a:pPr>
            <a:r>
              <a:rPr lang="en-US" sz="3200" dirty="0">
                <a:solidFill>
                  <a:srgbClr val="F8FAFC"/>
                </a:solidFill>
                <a:latin typeface="Arial" pitchFamily="34" charset="0"/>
                <a:ea typeface="Arial" pitchFamily="34" charset="-122"/>
                <a:cs typeface="Arial" pitchFamily="34" charset="-120"/>
              </a:rPr>
              <a:t>Why Agents Forget (and How to Fix It)</a:t>
            </a:r>
            <a:endParaRPr lang="en-US" sz="3200" dirty="0"/>
          </a:p>
        </p:txBody>
      </p:sp>
      <p:sp>
        <p:nvSpPr>
          <p:cNvPr id="4" name="Text 2"/>
          <p:cNvSpPr/>
          <p:nvPr/>
        </p:nvSpPr>
        <p:spPr>
          <a:xfrm>
            <a:off x="457200" y="4389120"/>
            <a:ext cx="8229600" cy="365760"/>
          </a:xfrm>
          <a:prstGeom prst="rect">
            <a:avLst/>
          </a:prstGeom>
          <a:noFill/>
          <a:ln/>
        </p:spPr>
        <p:txBody>
          <a:bodyPr wrap="square" rtlCol="0" anchor="ctr"/>
          <a:lstStyle/>
          <a:p>
            <a:pPr marL="0" indent="0" algn="l">
              <a:buNone/>
            </a:pPr>
            <a:r>
              <a:rPr lang="en-US" sz="1400" i="1" dirty="0">
                <a:solidFill>
                  <a:srgbClr val="94A3B8"/>
                </a:solidFill>
              </a:rPr>
              <a:t>Presented by: Sharad Rajore | Zensar Technologies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93B"/>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Problem: The Forgetful Assistant</a:t>
            </a:r>
            <a:endParaRPr lang="en-US" sz="3200" dirty="0"/>
          </a:p>
        </p:txBody>
      </p:sp>
      <p:sp>
        <p:nvSpPr>
          <p:cNvPr id="4" name="Text 2"/>
          <p:cNvSpPr/>
          <p:nvPr/>
        </p:nvSpPr>
        <p:spPr>
          <a:xfrm>
            <a:off x="457200" y="1097280"/>
            <a:ext cx="3657600" cy="365760"/>
          </a:xfrm>
          <a:prstGeom prst="rect">
            <a:avLst/>
          </a:prstGeom>
          <a:noFill/>
          <a:ln/>
        </p:spPr>
        <p:txBody>
          <a:bodyPr wrap="square" rtlCol="0" anchor="ctr"/>
          <a:lstStyle/>
          <a:p>
            <a:pPr marL="0" indent="0">
              <a:buNone/>
            </a:pPr>
            <a:r>
              <a:rPr lang="en-US" sz="1800" b="1" dirty="0">
                <a:solidFill>
                  <a:srgbClr val="1E293B"/>
                </a:solidFill>
                <a:latin typeface="Arial" pitchFamily="34" charset="0"/>
                <a:ea typeface="Arial" pitchFamily="34" charset="-122"/>
                <a:cs typeface="Arial" pitchFamily="34" charset="-120"/>
              </a:rPr>
              <a:t>Real Conversation:</a:t>
            </a:r>
            <a:endParaRPr lang="en-US" sz="1800" dirty="0"/>
          </a:p>
        </p:txBody>
      </p:sp>
      <p:sp>
        <p:nvSpPr>
          <p:cNvPr id="5" name="Shape 3"/>
          <p:cNvSpPr/>
          <p:nvPr/>
        </p:nvSpPr>
        <p:spPr>
          <a:xfrm>
            <a:off x="457200" y="1554480"/>
            <a:ext cx="3931920" cy="2926080"/>
          </a:xfrm>
          <a:prstGeom prst="roundRect">
            <a:avLst>
              <a:gd name="adj" fmla="val 3125"/>
            </a:avLst>
          </a:prstGeom>
          <a:solidFill>
            <a:srgbClr val="F8FAFC"/>
          </a:solidFill>
          <a:ln/>
        </p:spPr>
        <p:txBody>
          <a:bodyPr/>
          <a:lstStyle/>
          <a:p>
            <a:endParaRPr lang="en-US"/>
          </a:p>
        </p:txBody>
      </p:sp>
      <p:sp>
        <p:nvSpPr>
          <p:cNvPr id="6" name="Text 4"/>
          <p:cNvSpPr/>
          <p:nvPr/>
        </p:nvSpPr>
        <p:spPr>
          <a:xfrm>
            <a:off x="640080" y="1737360"/>
            <a:ext cx="3566160" cy="2560320"/>
          </a:xfrm>
          <a:prstGeom prst="rect">
            <a:avLst/>
          </a:prstGeom>
          <a:noFill/>
          <a:ln/>
        </p:spPr>
        <p:txBody>
          <a:bodyPr wrap="square" rtlCol="0" anchor="t"/>
          <a:lstStyle/>
          <a:p>
            <a:pPr marL="0" indent="0">
              <a:buNone/>
            </a:pPr>
            <a:r>
              <a:rPr lang="en-US" sz="1300" dirty="0">
                <a:solidFill>
                  <a:srgbClr val="1E293B"/>
                </a:solidFill>
                <a:latin typeface="Arial" pitchFamily="34" charset="0"/>
                <a:ea typeface="Arial" pitchFamily="34" charset="-122"/>
                <a:cs typeface="Arial" pitchFamily="34" charset="-120"/>
              </a:rPr>
              <a:t>You: "Hi, I'm Sharad from Zensar in Pune."</a:t>
            </a:r>
            <a:endParaRPr lang="en-US" sz="1300" dirty="0"/>
          </a:p>
          <a:p>
            <a:pPr marL="0" indent="0">
              <a:buNone/>
            </a:pP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Bot: "Nice to meet you!"</a:t>
            </a:r>
            <a:endParaRPr lang="en-US" sz="1300" dirty="0"/>
          </a:p>
          <a:p>
            <a:pPr marL="0" indent="0">
              <a:buNone/>
            </a:pP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You: "What's my name and where am I from?"</a:t>
            </a:r>
            <a:endParaRPr lang="en-US" sz="1300" dirty="0"/>
          </a:p>
          <a:p>
            <a:pPr marL="0" indent="0">
              <a:buNone/>
            </a:pP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Bot: "I have no idea..." 😕</a:t>
            </a:r>
            <a:endParaRPr lang="en-US" sz="1300" dirty="0"/>
          </a:p>
        </p:txBody>
      </p:sp>
      <p:sp>
        <p:nvSpPr>
          <p:cNvPr id="7" name="Text 5"/>
          <p:cNvSpPr/>
          <p:nvPr/>
        </p:nvSpPr>
        <p:spPr>
          <a:xfrm>
            <a:off x="4754880" y="1097280"/>
            <a:ext cx="3931920" cy="365760"/>
          </a:xfrm>
          <a:prstGeom prst="rect">
            <a:avLst/>
          </a:prstGeom>
          <a:noFill/>
          <a:ln/>
        </p:spPr>
        <p:txBody>
          <a:bodyPr wrap="square" rtlCol="0" anchor="ctr"/>
          <a:lstStyle/>
          <a:p>
            <a:pPr marL="0" indent="0">
              <a:buNone/>
            </a:pPr>
            <a:r>
              <a:rPr lang="en-US" sz="1800" b="1" dirty="0">
                <a:solidFill>
                  <a:srgbClr val="0D9488"/>
                </a:solidFill>
                <a:latin typeface="Arial" pitchFamily="34" charset="0"/>
                <a:ea typeface="Arial" pitchFamily="34" charset="-122"/>
                <a:cs typeface="Arial" pitchFamily="34" charset="-120"/>
              </a:rPr>
              <a:t>The Analogy:</a:t>
            </a:r>
            <a:endParaRPr lang="en-US" sz="1800" dirty="0"/>
          </a:p>
        </p:txBody>
      </p:sp>
      <p:sp>
        <p:nvSpPr>
          <p:cNvPr id="8" name="Shape 6"/>
          <p:cNvSpPr/>
          <p:nvPr/>
        </p:nvSpPr>
        <p:spPr>
          <a:xfrm>
            <a:off x="4754880" y="1554480"/>
            <a:ext cx="3931920" cy="2926080"/>
          </a:xfrm>
          <a:prstGeom prst="roundRect">
            <a:avLst>
              <a:gd name="adj" fmla="val 3125"/>
            </a:avLst>
          </a:prstGeom>
          <a:solidFill>
            <a:srgbClr val="FEF3E2"/>
          </a:solidFill>
          <a:ln/>
        </p:spPr>
        <p:txBody>
          <a:bodyPr/>
          <a:lstStyle/>
          <a:p>
            <a:endParaRPr lang="en-US"/>
          </a:p>
        </p:txBody>
      </p:sp>
      <p:sp>
        <p:nvSpPr>
          <p:cNvPr id="9" name="Text 7"/>
          <p:cNvSpPr/>
          <p:nvPr/>
        </p:nvSpPr>
        <p:spPr>
          <a:xfrm>
            <a:off x="4937760" y="1737360"/>
            <a:ext cx="3566160" cy="2560320"/>
          </a:xfrm>
          <a:prstGeom prst="rect">
            <a:avLst/>
          </a:prstGeom>
          <a:noFill/>
          <a:ln/>
        </p:spPr>
        <p:txBody>
          <a:bodyPr wrap="square" rtlCol="0" anchor="t"/>
          <a:lstStyle/>
          <a:p>
            <a:pPr marL="0" indent="0">
              <a:buNone/>
            </a:pPr>
            <a:r>
              <a:rPr lang="en-US" sz="1300" dirty="0">
                <a:solidFill>
                  <a:srgbClr val="1E293B"/>
                </a:solidFill>
                <a:latin typeface="Arial" pitchFamily="34" charset="0"/>
                <a:ea typeface="Arial" pitchFamily="34" charset="-122"/>
                <a:cs typeface="Arial" pitchFamily="34" charset="-120"/>
              </a:rPr>
              <a:t>Imagine a receptionist with</a:t>
            </a: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no notepad.</a:t>
            </a:r>
            <a:endParaRPr lang="en-US" sz="1300" dirty="0"/>
          </a:p>
          <a:p>
            <a:pPr marL="0" indent="0">
              <a:buNone/>
            </a:pP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 Call 1: You tell her your name</a:t>
            </a: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 Call 2: She has NO memory of Call 1</a:t>
            </a:r>
            <a:endParaRPr lang="en-US" sz="1300" dirty="0"/>
          </a:p>
          <a:p>
            <a:pPr marL="0" indent="0">
              <a:buNone/>
            </a:pPr>
            <a:endParaRPr lang="en-US" sz="1300" dirty="0"/>
          </a:p>
          <a:p>
            <a:pPr marL="0" indent="0">
              <a:buNone/>
            </a:pPr>
            <a:r>
              <a:rPr lang="en-US" sz="1300" dirty="0">
                <a:solidFill>
                  <a:srgbClr val="1E293B"/>
                </a:solidFill>
                <a:latin typeface="Arial" pitchFamily="34" charset="0"/>
                <a:ea typeface="Arial" pitchFamily="34" charset="-122"/>
                <a:cs typeface="Arial" pitchFamily="34" charset="-120"/>
              </a:rPr>
              <a:t>Each call is fresh. Each time she's clueless.</a:t>
            </a:r>
            <a:endParaRPr lang="en-US" sz="1300" dirty="0"/>
          </a:p>
          <a:p>
            <a:pPr marL="0" indent="0">
              <a:buNone/>
            </a:pPr>
            <a:endParaRPr lang="en-US" sz="1300" dirty="0"/>
          </a:p>
          <a:p>
            <a:pPr marL="0" indent="0">
              <a:buNone/>
            </a:pPr>
            <a:r>
              <a:rPr lang="en-US" sz="1300" i="1" dirty="0">
                <a:solidFill>
                  <a:srgbClr val="1E293B"/>
                </a:solidFill>
                <a:latin typeface="Arial" pitchFamily="34" charset="0"/>
                <a:ea typeface="Arial" pitchFamily="34" charset="-122"/>
                <a:cs typeface="Arial" pitchFamily="34" charset="-120"/>
              </a:rPr>
              <a:t>"What was it called again?"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9488"/>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Why It Happens: The Stateless LLM</a:t>
            </a:r>
            <a:endParaRPr lang="en-US" sz="3200" dirty="0"/>
          </a:p>
        </p:txBody>
      </p:sp>
      <p:sp>
        <p:nvSpPr>
          <p:cNvPr id="4" name="Shape 2"/>
          <p:cNvSpPr/>
          <p:nvPr/>
        </p:nvSpPr>
        <p:spPr>
          <a:xfrm>
            <a:off x="457200" y="1005840"/>
            <a:ext cx="8229600" cy="914400"/>
          </a:xfrm>
          <a:prstGeom prst="roundRect">
            <a:avLst>
              <a:gd name="adj" fmla="val 10000"/>
            </a:avLst>
          </a:prstGeom>
          <a:solidFill>
            <a:srgbClr val="E0F2FE"/>
          </a:solidFill>
          <a:ln/>
        </p:spPr>
        <p:txBody>
          <a:bodyPr/>
          <a:lstStyle/>
          <a:p>
            <a:endParaRPr lang="en-US"/>
          </a:p>
        </p:txBody>
      </p:sp>
      <p:sp>
        <p:nvSpPr>
          <p:cNvPr id="5" name="Text 3"/>
          <p:cNvSpPr/>
          <p:nvPr/>
        </p:nvSpPr>
        <p:spPr>
          <a:xfrm>
            <a:off x="640080" y="1143000"/>
            <a:ext cx="7863840" cy="640080"/>
          </a:xfrm>
          <a:prstGeom prst="rect">
            <a:avLst/>
          </a:prstGeom>
          <a:noFill/>
          <a:ln/>
        </p:spPr>
        <p:txBody>
          <a:bodyPr wrap="square" rtlCol="0" anchor="ctr"/>
          <a:lstStyle/>
          <a:p>
            <a:pPr marL="0" indent="0">
              <a:buNone/>
            </a:pPr>
            <a:r>
              <a:rPr lang="en-US" sz="1600" b="1" dirty="0">
                <a:solidFill>
                  <a:srgbClr val="1E293B"/>
                </a:solidFill>
                <a:latin typeface="Arial" pitchFamily="34" charset="0"/>
                <a:ea typeface="Arial" pitchFamily="34" charset="-122"/>
                <a:cs typeface="Arial" pitchFamily="34" charset="-120"/>
              </a:rPr>
              <a:t>🔑 Key Insight: An LLM has NO internal memory. It's stateless by design.</a:t>
            </a:r>
            <a:endParaRPr lang="en-US" sz="1600" dirty="0"/>
          </a:p>
        </p:txBody>
      </p:sp>
      <p:sp>
        <p:nvSpPr>
          <p:cNvPr id="6" name="Text 4"/>
          <p:cNvSpPr/>
          <p:nvPr/>
        </p:nvSpPr>
        <p:spPr>
          <a:xfrm>
            <a:off x="457200" y="2103120"/>
            <a:ext cx="3931920" cy="365760"/>
          </a:xfrm>
          <a:prstGeom prst="rect">
            <a:avLst/>
          </a:prstGeom>
          <a:noFill/>
          <a:ln/>
        </p:spPr>
        <p:txBody>
          <a:bodyPr wrap="square" rtlCol="0" anchor="ctr"/>
          <a:lstStyle/>
          <a:p>
            <a:pPr marL="0" indent="0">
              <a:buNone/>
            </a:pPr>
            <a:r>
              <a:rPr lang="en-US" sz="1600" b="1" dirty="0">
                <a:solidFill>
                  <a:srgbClr val="DC2626"/>
                </a:solidFill>
                <a:latin typeface="Arial" pitchFamily="34" charset="0"/>
                <a:ea typeface="Arial" pitchFamily="34" charset="-122"/>
                <a:cs typeface="Arial" pitchFamily="34" charset="-120"/>
              </a:rPr>
              <a:t>❌ Without Memory Management:</a:t>
            </a:r>
            <a:endParaRPr lang="en-US" sz="1600" dirty="0"/>
          </a:p>
        </p:txBody>
      </p:sp>
      <p:sp>
        <p:nvSpPr>
          <p:cNvPr id="7" name="Shape 5"/>
          <p:cNvSpPr/>
          <p:nvPr/>
        </p:nvSpPr>
        <p:spPr>
          <a:xfrm>
            <a:off x="457200" y="2560320"/>
            <a:ext cx="3931920" cy="2194560"/>
          </a:xfrm>
          <a:prstGeom prst="roundRect">
            <a:avLst>
              <a:gd name="adj" fmla="val 4167"/>
            </a:avLst>
          </a:prstGeom>
          <a:solidFill>
            <a:srgbClr val="FEE2E2"/>
          </a:solidFill>
          <a:ln/>
        </p:spPr>
        <p:txBody>
          <a:bodyPr/>
          <a:lstStyle/>
          <a:p>
            <a:endParaRPr lang="en-US"/>
          </a:p>
        </p:txBody>
      </p:sp>
      <p:sp>
        <p:nvSpPr>
          <p:cNvPr id="8" name="Text 6"/>
          <p:cNvSpPr/>
          <p:nvPr/>
        </p:nvSpPr>
        <p:spPr>
          <a:xfrm>
            <a:off x="640080" y="2697480"/>
            <a:ext cx="3566160" cy="2057400"/>
          </a:xfrm>
          <a:prstGeom prst="rect">
            <a:avLst/>
          </a:prstGeom>
          <a:noFill/>
          <a:ln/>
        </p:spPr>
        <p:txBody>
          <a:bodyPr wrap="square" rtlCol="0" anchor="t"/>
          <a:lstStyle/>
          <a:p>
            <a:pPr marL="0" indent="0">
              <a:buNone/>
            </a:pPr>
            <a:r>
              <a:rPr lang="en-US" sz="1300" b="1" dirty="0">
                <a:solidFill>
                  <a:srgbClr val="1E293B"/>
                </a:solidFill>
                <a:latin typeface="Arial" pitchFamily="34" charset="0"/>
                <a:ea typeface="Arial" pitchFamily="34" charset="-122"/>
                <a:cs typeface="Arial" pitchFamily="34" charset="-120"/>
              </a:rPr>
              <a:t>Turn 1:
</a:t>
            </a:r>
            <a:r>
              <a:rPr lang="en-US" sz="1200" dirty="0">
                <a:solidFill>
                  <a:srgbClr val="1E293B"/>
                </a:solidFill>
                <a:latin typeface="Arial" pitchFamily="34" charset="0"/>
                <a:ea typeface="Arial" pitchFamily="34" charset="-122"/>
                <a:cs typeface="Arial" pitchFamily="34" charset="-120"/>
              </a:rPr>
              <a:t>You send: "My name is Sharad"
</a:t>
            </a:r>
            <a:r>
              <a:rPr lang="en-US" sz="1200" dirty="0">
                <a:solidFill>
                  <a:srgbClr val="94A3B8"/>
                </a:solidFill>
                <a:latin typeface="Arial" pitchFamily="34" charset="0"/>
                <a:ea typeface="Arial" pitchFamily="34" charset="-122"/>
                <a:cs typeface="Arial" pitchFamily="34" charset="-120"/>
              </a:rPr>
              <a:t>LLM sees: [Only this message]
</a:t>
            </a:r>
            <a:r>
              <a:rPr lang="en-US" sz="1300" b="1" dirty="0">
                <a:solidFill>
                  <a:srgbClr val="1E293B"/>
                </a:solidFill>
                <a:latin typeface="Arial" pitchFamily="34" charset="0"/>
                <a:ea typeface="Arial" pitchFamily="34" charset="-122"/>
                <a:cs typeface="Arial" pitchFamily="34" charset="-120"/>
              </a:rPr>
              <a:t>Turn 2:
</a:t>
            </a:r>
            <a:r>
              <a:rPr lang="en-US" sz="1200" dirty="0">
                <a:solidFill>
                  <a:srgbClr val="1E293B"/>
                </a:solidFill>
                <a:latin typeface="Arial" pitchFamily="34" charset="0"/>
                <a:ea typeface="Arial" pitchFamily="34" charset="-122"/>
                <a:cs typeface="Arial" pitchFamily="34" charset="-120"/>
              </a:rPr>
              <a:t>You send: "What's my name?"
</a:t>
            </a:r>
            <a:r>
              <a:rPr lang="en-US" sz="1200" dirty="0">
                <a:solidFill>
                  <a:srgbClr val="94A3B8"/>
                </a:solidFill>
                <a:latin typeface="Arial" pitchFamily="34" charset="0"/>
                <a:ea typeface="Arial" pitchFamily="34" charset="-122"/>
                <a:cs typeface="Arial" pitchFamily="34" charset="-120"/>
              </a:rPr>
              <a:t>LLM sees: [ONLY THIS message]
</a:t>
            </a:r>
            <a:r>
              <a:rPr lang="en-US" sz="1300" b="1" dirty="0">
                <a:solidFill>
                  <a:srgbClr val="DC2626"/>
                </a:solidFill>
                <a:latin typeface="Arial" pitchFamily="34" charset="0"/>
                <a:ea typeface="Arial" pitchFamily="34" charset="-122"/>
                <a:cs typeface="Arial" pitchFamily="34" charset="-120"/>
              </a:rPr>
              <a:t>❌ No context from Turn 1!</a:t>
            </a:r>
            <a:endParaRPr lang="en-US" sz="1300" dirty="0"/>
          </a:p>
        </p:txBody>
      </p:sp>
      <p:sp>
        <p:nvSpPr>
          <p:cNvPr id="9" name="Text 7"/>
          <p:cNvSpPr/>
          <p:nvPr/>
        </p:nvSpPr>
        <p:spPr>
          <a:xfrm>
            <a:off x="4754880" y="2103120"/>
            <a:ext cx="3931920" cy="365760"/>
          </a:xfrm>
          <a:prstGeom prst="rect">
            <a:avLst/>
          </a:prstGeom>
          <a:noFill/>
          <a:ln/>
        </p:spPr>
        <p:txBody>
          <a:bodyPr wrap="square" rtlCol="0" anchor="ctr"/>
          <a:lstStyle/>
          <a:p>
            <a:pPr marL="0" indent="0">
              <a:buNone/>
            </a:pPr>
            <a:r>
              <a:rPr lang="en-US" sz="1600" b="1" dirty="0">
                <a:solidFill>
                  <a:srgbClr val="16A34A"/>
                </a:solidFill>
                <a:latin typeface="Arial" pitchFamily="34" charset="0"/>
                <a:ea typeface="Arial" pitchFamily="34" charset="-122"/>
                <a:cs typeface="Arial" pitchFamily="34" charset="-120"/>
              </a:rPr>
              <a:t>✅ With History Management:</a:t>
            </a:r>
            <a:endParaRPr lang="en-US" sz="1600" dirty="0"/>
          </a:p>
        </p:txBody>
      </p:sp>
      <p:sp>
        <p:nvSpPr>
          <p:cNvPr id="10" name="Shape 8"/>
          <p:cNvSpPr/>
          <p:nvPr/>
        </p:nvSpPr>
        <p:spPr>
          <a:xfrm>
            <a:off x="4754880" y="2560320"/>
            <a:ext cx="3931920" cy="2194560"/>
          </a:xfrm>
          <a:prstGeom prst="roundRect">
            <a:avLst>
              <a:gd name="adj" fmla="val 4167"/>
            </a:avLst>
          </a:prstGeom>
          <a:solidFill>
            <a:srgbClr val="DCFCE7"/>
          </a:solidFill>
          <a:ln/>
        </p:spPr>
        <p:txBody>
          <a:bodyPr/>
          <a:lstStyle/>
          <a:p>
            <a:endParaRPr lang="en-US"/>
          </a:p>
        </p:txBody>
      </p:sp>
      <p:sp>
        <p:nvSpPr>
          <p:cNvPr id="11" name="Text 9"/>
          <p:cNvSpPr/>
          <p:nvPr/>
        </p:nvSpPr>
        <p:spPr>
          <a:xfrm>
            <a:off x="4937760" y="2697480"/>
            <a:ext cx="3566160" cy="2057400"/>
          </a:xfrm>
          <a:prstGeom prst="rect">
            <a:avLst/>
          </a:prstGeom>
          <a:noFill/>
          <a:ln/>
        </p:spPr>
        <p:txBody>
          <a:bodyPr wrap="square" rtlCol="0" anchor="t"/>
          <a:lstStyle/>
          <a:p>
            <a:pPr marL="0" indent="0">
              <a:buNone/>
            </a:pPr>
            <a:r>
              <a:rPr lang="en-US" sz="1300" b="1" dirty="0">
                <a:solidFill>
                  <a:srgbClr val="1E293B"/>
                </a:solidFill>
                <a:latin typeface="Arial" pitchFamily="34" charset="0"/>
                <a:ea typeface="Arial" pitchFamily="34" charset="-122"/>
                <a:cs typeface="Arial" pitchFamily="34" charset="-120"/>
              </a:rPr>
              <a:t>Turn 1:
</a:t>
            </a:r>
            <a:r>
              <a:rPr lang="en-US" sz="1200" dirty="0">
                <a:solidFill>
                  <a:srgbClr val="1E293B"/>
                </a:solidFill>
                <a:latin typeface="Arial" pitchFamily="34" charset="0"/>
                <a:ea typeface="Arial" pitchFamily="34" charset="-122"/>
                <a:cs typeface="Arial" pitchFamily="34" charset="-120"/>
              </a:rPr>
              <a:t>You send: "My name is Sharad"
</a:t>
            </a:r>
            <a:r>
              <a:rPr lang="en-US" sz="1200" dirty="0">
                <a:solidFill>
                  <a:srgbClr val="94A3B8"/>
                </a:solidFill>
                <a:latin typeface="Arial" pitchFamily="34" charset="0"/>
                <a:ea typeface="Arial" pitchFamily="34" charset="-122"/>
                <a:cs typeface="Arial" pitchFamily="34" charset="-120"/>
              </a:rPr>
              <a:t>Save it
</a:t>
            </a:r>
            <a:r>
              <a:rPr lang="en-US" sz="1300" b="1" dirty="0">
                <a:solidFill>
                  <a:srgbClr val="1E293B"/>
                </a:solidFill>
                <a:latin typeface="Arial" pitchFamily="34" charset="0"/>
                <a:ea typeface="Arial" pitchFamily="34" charset="-122"/>
                <a:cs typeface="Arial" pitchFamily="34" charset="-120"/>
              </a:rPr>
              <a:t>Turn 2:
</a:t>
            </a:r>
            <a:r>
              <a:rPr lang="en-US" sz="1200" dirty="0">
                <a:solidFill>
                  <a:srgbClr val="1E293B"/>
                </a:solidFill>
                <a:latin typeface="Arial" pitchFamily="34" charset="0"/>
                <a:ea typeface="Arial" pitchFamily="34" charset="-122"/>
                <a:cs typeface="Arial" pitchFamily="34" charset="-120"/>
              </a:rPr>
              <a:t>You send: "What's my name?"
</a:t>
            </a:r>
            <a:r>
              <a:rPr lang="en-US" sz="1200" dirty="0">
                <a:solidFill>
                  <a:srgbClr val="94A3B8"/>
                </a:solidFill>
                <a:latin typeface="Arial" pitchFamily="34" charset="0"/>
                <a:ea typeface="Arial" pitchFamily="34" charset="-122"/>
                <a:cs typeface="Arial" pitchFamily="34" charset="-120"/>
              </a:rPr>
              <a:t>LLM sees: [Turn 1 + Turn 2]
</a:t>
            </a:r>
            <a:r>
              <a:rPr lang="en-US" sz="1300" b="1" dirty="0">
                <a:solidFill>
                  <a:srgbClr val="16A34A"/>
                </a:solidFill>
                <a:latin typeface="Arial" pitchFamily="34" charset="0"/>
                <a:ea typeface="Arial" pitchFamily="34" charset="-122"/>
                <a:cs typeface="Arial" pitchFamily="34" charset="-120"/>
              </a:rPr>
              <a:t>✅ Agent remembers!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75569"/>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 is 'Memory'? It's Just Conversation History</a:t>
            </a:r>
            <a:endParaRPr lang="en-US" sz="3200" dirty="0"/>
          </a:p>
        </p:txBody>
      </p:sp>
      <p:sp>
        <p:nvSpPr>
          <p:cNvPr id="4" name="Shape 2"/>
          <p:cNvSpPr/>
          <p:nvPr/>
        </p:nvSpPr>
        <p:spPr>
          <a:xfrm>
            <a:off x="457200" y="1005840"/>
            <a:ext cx="8229600" cy="822960"/>
          </a:xfrm>
          <a:prstGeom prst="roundRect">
            <a:avLst>
              <a:gd name="adj" fmla="val 11111"/>
            </a:avLst>
          </a:prstGeom>
          <a:solidFill>
            <a:srgbClr val="F8FAFC"/>
          </a:solidFill>
          <a:ln/>
        </p:spPr>
        <p:txBody>
          <a:bodyPr/>
          <a:lstStyle/>
          <a:p>
            <a:endParaRPr lang="en-US"/>
          </a:p>
        </p:txBody>
      </p:sp>
      <p:sp>
        <p:nvSpPr>
          <p:cNvPr id="5" name="Text 3"/>
          <p:cNvSpPr/>
          <p:nvPr/>
        </p:nvSpPr>
        <p:spPr>
          <a:xfrm>
            <a:off x="640080" y="1143000"/>
            <a:ext cx="7863840" cy="54864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Memory = A list of all messages (yours + agent's) sent on every new call</a:t>
            </a:r>
            <a:endParaRPr lang="en-US" sz="1500" dirty="0"/>
          </a:p>
        </p:txBody>
      </p:sp>
      <p:sp>
        <p:nvSpPr>
          <p:cNvPr id="6" name="Text 4"/>
          <p:cNvSpPr/>
          <p:nvPr/>
        </p:nvSpPr>
        <p:spPr>
          <a:xfrm>
            <a:off x="457200" y="2011680"/>
            <a:ext cx="8229600" cy="320040"/>
          </a:xfrm>
          <a:prstGeom prst="rect">
            <a:avLst/>
          </a:prstGeom>
          <a:noFill/>
          <a:ln/>
        </p:spPr>
        <p:txBody>
          <a:bodyPr wrap="square" rtlCol="0" anchor="ctr"/>
          <a:lstStyle/>
          <a:p>
            <a:pPr marL="0" indent="0">
              <a:buNone/>
            </a:pPr>
            <a:r>
              <a:rPr lang="en-US" sz="1600" b="1" dirty="0">
                <a:solidFill>
                  <a:srgbClr val="1E293B"/>
                </a:solidFill>
                <a:latin typeface="Arial" pitchFamily="34" charset="0"/>
                <a:ea typeface="Arial" pitchFamily="34" charset="-122"/>
                <a:cs typeface="Arial" pitchFamily="34" charset="-120"/>
              </a:rPr>
              <a:t>Example: A Simple Conversation History</a:t>
            </a:r>
            <a:endParaRPr lang="en-US" sz="1600" dirty="0"/>
          </a:p>
        </p:txBody>
      </p:sp>
      <p:sp>
        <p:nvSpPr>
          <p:cNvPr id="7" name="Shape 5"/>
          <p:cNvSpPr/>
          <p:nvPr/>
        </p:nvSpPr>
        <p:spPr>
          <a:xfrm>
            <a:off x="457200" y="2468880"/>
            <a:ext cx="8229600" cy="411480"/>
          </a:xfrm>
          <a:prstGeom prst="roundRect">
            <a:avLst>
              <a:gd name="adj" fmla="val 11111"/>
            </a:avLst>
          </a:prstGeom>
          <a:solidFill>
            <a:srgbClr val="F8FAFC"/>
          </a:solidFill>
          <a:ln/>
        </p:spPr>
        <p:txBody>
          <a:bodyPr/>
          <a:lstStyle/>
          <a:p>
            <a:endParaRPr lang="en-US"/>
          </a:p>
        </p:txBody>
      </p:sp>
      <p:sp>
        <p:nvSpPr>
          <p:cNvPr id="8" name="Text 6"/>
          <p:cNvSpPr/>
          <p:nvPr/>
        </p:nvSpPr>
        <p:spPr>
          <a:xfrm>
            <a:off x="640080" y="2514600"/>
            <a:ext cx="9144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 User</a:t>
            </a:r>
            <a:endParaRPr lang="en-US" sz="1300" dirty="0"/>
          </a:p>
        </p:txBody>
      </p:sp>
      <p:sp>
        <p:nvSpPr>
          <p:cNvPr id="9" name="Text 7"/>
          <p:cNvSpPr/>
          <p:nvPr/>
        </p:nvSpPr>
        <p:spPr>
          <a:xfrm>
            <a:off x="1737360" y="2514600"/>
            <a:ext cx="6766560" cy="320040"/>
          </a:xfrm>
          <a:prstGeom prst="rect">
            <a:avLst/>
          </a:prstGeom>
          <a:noFill/>
          <a:ln/>
        </p:spPr>
        <p:txBody>
          <a:bodyPr wrap="square" rtlCol="0" anchor="ctr"/>
          <a:lstStyle/>
          <a:p>
            <a:pPr marL="0" indent="0">
              <a:buNone/>
            </a:pPr>
            <a:r>
              <a:rPr lang="en-US" sz="1200" dirty="0">
                <a:solidFill>
                  <a:srgbClr val="1E293B"/>
                </a:solidFill>
                <a:latin typeface="Arial" pitchFamily="34" charset="0"/>
                <a:ea typeface="Arial" pitchFamily="34" charset="-122"/>
                <a:cs typeface="Arial" pitchFamily="34" charset="-120"/>
              </a:rPr>
              <a:t>Hi, I'm Sharad from Zensar.</a:t>
            </a:r>
            <a:endParaRPr lang="en-US" sz="1200" dirty="0"/>
          </a:p>
        </p:txBody>
      </p:sp>
      <p:sp>
        <p:nvSpPr>
          <p:cNvPr id="10" name="Shape 8"/>
          <p:cNvSpPr/>
          <p:nvPr/>
        </p:nvSpPr>
        <p:spPr>
          <a:xfrm>
            <a:off x="457200" y="2926080"/>
            <a:ext cx="8229600" cy="411480"/>
          </a:xfrm>
          <a:prstGeom prst="roundRect">
            <a:avLst>
              <a:gd name="adj" fmla="val 11111"/>
            </a:avLst>
          </a:prstGeom>
          <a:solidFill>
            <a:srgbClr val="E0E7FF"/>
          </a:solidFill>
          <a:ln/>
        </p:spPr>
        <p:txBody>
          <a:bodyPr/>
          <a:lstStyle/>
          <a:p>
            <a:endParaRPr lang="en-US"/>
          </a:p>
        </p:txBody>
      </p:sp>
      <p:sp>
        <p:nvSpPr>
          <p:cNvPr id="11" name="Text 9"/>
          <p:cNvSpPr/>
          <p:nvPr/>
        </p:nvSpPr>
        <p:spPr>
          <a:xfrm>
            <a:off x="640080" y="2971800"/>
            <a:ext cx="9144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 Agent</a:t>
            </a:r>
            <a:endParaRPr lang="en-US" sz="1300" dirty="0"/>
          </a:p>
        </p:txBody>
      </p:sp>
      <p:sp>
        <p:nvSpPr>
          <p:cNvPr id="12" name="Text 10"/>
          <p:cNvSpPr/>
          <p:nvPr/>
        </p:nvSpPr>
        <p:spPr>
          <a:xfrm>
            <a:off x="1737360" y="2971800"/>
            <a:ext cx="6766560" cy="320040"/>
          </a:xfrm>
          <a:prstGeom prst="rect">
            <a:avLst/>
          </a:prstGeom>
          <a:noFill/>
          <a:ln/>
        </p:spPr>
        <p:txBody>
          <a:bodyPr wrap="square" rtlCol="0" anchor="ctr"/>
          <a:lstStyle/>
          <a:p>
            <a:pPr marL="0" indent="0">
              <a:buNone/>
            </a:pPr>
            <a:r>
              <a:rPr lang="en-US" sz="1200" dirty="0">
                <a:solidFill>
                  <a:srgbClr val="1E293B"/>
                </a:solidFill>
                <a:latin typeface="Arial" pitchFamily="34" charset="0"/>
                <a:ea typeface="Arial" pitchFamily="34" charset="-122"/>
                <a:cs typeface="Arial" pitchFamily="34" charset="-120"/>
              </a:rPr>
              <a:t>Nice to meet you, Sharad!</a:t>
            </a:r>
            <a:endParaRPr lang="en-US" sz="1200" dirty="0"/>
          </a:p>
        </p:txBody>
      </p:sp>
      <p:sp>
        <p:nvSpPr>
          <p:cNvPr id="13" name="Shape 11"/>
          <p:cNvSpPr/>
          <p:nvPr/>
        </p:nvSpPr>
        <p:spPr>
          <a:xfrm>
            <a:off x="457200" y="3383280"/>
            <a:ext cx="8229600" cy="411480"/>
          </a:xfrm>
          <a:prstGeom prst="roundRect">
            <a:avLst>
              <a:gd name="adj" fmla="val 11111"/>
            </a:avLst>
          </a:prstGeom>
          <a:solidFill>
            <a:srgbClr val="F8FAFC"/>
          </a:solidFill>
          <a:ln/>
        </p:spPr>
        <p:txBody>
          <a:bodyPr/>
          <a:lstStyle/>
          <a:p>
            <a:endParaRPr lang="en-US"/>
          </a:p>
        </p:txBody>
      </p:sp>
      <p:sp>
        <p:nvSpPr>
          <p:cNvPr id="14" name="Text 12"/>
          <p:cNvSpPr/>
          <p:nvPr/>
        </p:nvSpPr>
        <p:spPr>
          <a:xfrm>
            <a:off x="640080" y="3429000"/>
            <a:ext cx="9144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 User</a:t>
            </a:r>
            <a:endParaRPr lang="en-US" sz="1300" dirty="0"/>
          </a:p>
        </p:txBody>
      </p:sp>
      <p:sp>
        <p:nvSpPr>
          <p:cNvPr id="15" name="Text 13"/>
          <p:cNvSpPr/>
          <p:nvPr/>
        </p:nvSpPr>
        <p:spPr>
          <a:xfrm>
            <a:off x="1737360" y="3429000"/>
            <a:ext cx="6766560" cy="320040"/>
          </a:xfrm>
          <a:prstGeom prst="rect">
            <a:avLst/>
          </a:prstGeom>
          <a:noFill/>
          <a:ln/>
        </p:spPr>
        <p:txBody>
          <a:bodyPr wrap="square" rtlCol="0" anchor="ctr"/>
          <a:lstStyle/>
          <a:p>
            <a:pPr marL="0" indent="0">
              <a:buNone/>
            </a:pPr>
            <a:r>
              <a:rPr lang="en-US" sz="1200" dirty="0">
                <a:solidFill>
                  <a:srgbClr val="1E293B"/>
                </a:solidFill>
                <a:latin typeface="Arial" pitchFamily="34" charset="0"/>
                <a:ea typeface="Arial" pitchFamily="34" charset="-122"/>
                <a:cs typeface="Arial" pitchFamily="34" charset="-120"/>
              </a:rPr>
              <a:t>What's the weather in Mumbai?</a:t>
            </a:r>
            <a:endParaRPr lang="en-US" sz="1200" dirty="0"/>
          </a:p>
        </p:txBody>
      </p:sp>
      <p:sp>
        <p:nvSpPr>
          <p:cNvPr id="16" name="Shape 14"/>
          <p:cNvSpPr/>
          <p:nvPr/>
        </p:nvSpPr>
        <p:spPr>
          <a:xfrm>
            <a:off x="457200" y="3840480"/>
            <a:ext cx="8229600" cy="411480"/>
          </a:xfrm>
          <a:prstGeom prst="roundRect">
            <a:avLst>
              <a:gd name="adj" fmla="val 11111"/>
            </a:avLst>
          </a:prstGeom>
          <a:solidFill>
            <a:srgbClr val="E0E7FF"/>
          </a:solidFill>
          <a:ln/>
        </p:spPr>
        <p:txBody>
          <a:bodyPr/>
          <a:lstStyle/>
          <a:p>
            <a:endParaRPr lang="en-US"/>
          </a:p>
        </p:txBody>
      </p:sp>
      <p:sp>
        <p:nvSpPr>
          <p:cNvPr id="17" name="Text 15"/>
          <p:cNvSpPr/>
          <p:nvPr/>
        </p:nvSpPr>
        <p:spPr>
          <a:xfrm>
            <a:off x="640080" y="3886200"/>
            <a:ext cx="91440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 Agent</a:t>
            </a:r>
            <a:endParaRPr lang="en-US" sz="1300" dirty="0"/>
          </a:p>
        </p:txBody>
      </p:sp>
      <p:sp>
        <p:nvSpPr>
          <p:cNvPr id="18" name="Text 16"/>
          <p:cNvSpPr/>
          <p:nvPr/>
        </p:nvSpPr>
        <p:spPr>
          <a:xfrm>
            <a:off x="1737360" y="3886200"/>
            <a:ext cx="6766560" cy="320040"/>
          </a:xfrm>
          <a:prstGeom prst="rect">
            <a:avLst/>
          </a:prstGeom>
          <a:noFill/>
          <a:ln/>
        </p:spPr>
        <p:txBody>
          <a:bodyPr wrap="square" rtlCol="0" anchor="ctr"/>
          <a:lstStyle/>
          <a:p>
            <a:pPr marL="0" indent="0">
              <a:buNone/>
            </a:pPr>
            <a:r>
              <a:rPr lang="en-US" sz="1200" dirty="0">
                <a:solidFill>
                  <a:srgbClr val="1E293B"/>
                </a:solidFill>
                <a:latin typeface="Arial" pitchFamily="34" charset="0"/>
                <a:ea typeface="Arial" pitchFamily="34" charset="-122"/>
                <a:cs typeface="Arial" pitchFamily="34" charset="-120"/>
              </a:rPr>
              <a:t>Let me check... it's sunny in Mumbai.</a:t>
            </a:r>
            <a:endParaRPr lang="en-US" sz="1200" dirty="0"/>
          </a:p>
        </p:txBody>
      </p:sp>
      <p:sp>
        <p:nvSpPr>
          <p:cNvPr id="19" name="Text 17"/>
          <p:cNvSpPr/>
          <p:nvPr/>
        </p:nvSpPr>
        <p:spPr>
          <a:xfrm>
            <a:off x="457200" y="4572000"/>
            <a:ext cx="8229600" cy="457200"/>
          </a:xfrm>
          <a:prstGeom prst="rect">
            <a:avLst/>
          </a:prstGeom>
          <a:noFill/>
          <a:ln/>
        </p:spPr>
        <p:txBody>
          <a:bodyPr wrap="square" rtlCol="0" anchor="ctr"/>
          <a:lstStyle/>
          <a:p>
            <a:pPr marL="0" indent="0">
              <a:buNone/>
            </a:pPr>
            <a:r>
              <a:rPr lang="en-US" sz="1400" i="1" dirty="0">
                <a:solidFill>
                  <a:srgbClr val="0D9488"/>
                </a:solidFill>
                <a:latin typeface="Arial" pitchFamily="34" charset="0"/>
                <a:ea typeface="Arial" pitchFamily="34" charset="-122"/>
                <a:cs typeface="Arial" pitchFamily="34" charset="-120"/>
              </a:rPr>
              <a:t>🔄 On every new call, this ENTIRE list is sent to the LLM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93B"/>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Approach 1: Manual Message List</a:t>
            </a:r>
            <a:endParaRPr lang="en-US" sz="3200" dirty="0"/>
          </a:p>
        </p:txBody>
      </p:sp>
      <p:sp>
        <p:nvSpPr>
          <p:cNvPr id="4" name="Text 2"/>
          <p:cNvSpPr/>
          <p:nvPr/>
        </p:nvSpPr>
        <p:spPr>
          <a:xfrm>
            <a:off x="457200" y="1005840"/>
            <a:ext cx="3931920" cy="320040"/>
          </a:xfrm>
          <a:prstGeom prst="rect">
            <a:avLst/>
          </a:prstGeom>
          <a:noFill/>
          <a:ln/>
        </p:spPr>
        <p:txBody>
          <a:bodyPr wrap="square" rtlCol="0" anchor="ctr"/>
          <a:lstStyle/>
          <a:p>
            <a:pPr marL="0" indent="0">
              <a:buNone/>
            </a:pPr>
            <a:r>
              <a:rPr lang="en-US" sz="1600" b="1" dirty="0">
                <a:solidFill>
                  <a:srgbClr val="1E293B"/>
                </a:solidFill>
                <a:latin typeface="Arial" pitchFamily="34" charset="0"/>
                <a:ea typeface="Arial" pitchFamily="34" charset="-122"/>
                <a:cs typeface="Arial" pitchFamily="34" charset="-120"/>
              </a:rPr>
              <a:t>What You Do:</a:t>
            </a:r>
            <a:endParaRPr lang="en-US" sz="1600" dirty="0"/>
          </a:p>
        </p:txBody>
      </p:sp>
      <p:sp>
        <p:nvSpPr>
          <p:cNvPr id="5" name="Shape 3"/>
          <p:cNvSpPr/>
          <p:nvPr/>
        </p:nvSpPr>
        <p:spPr>
          <a:xfrm>
            <a:off x="457200" y="1417320"/>
            <a:ext cx="3931920" cy="3383280"/>
          </a:xfrm>
          <a:prstGeom prst="roundRect">
            <a:avLst>
              <a:gd name="adj" fmla="val 2703"/>
            </a:avLst>
          </a:prstGeom>
          <a:solidFill>
            <a:srgbClr val="F8FAFC"/>
          </a:solidFill>
          <a:ln/>
        </p:spPr>
        <p:txBody>
          <a:bodyPr/>
          <a:lstStyle/>
          <a:p>
            <a:endParaRPr lang="en-US"/>
          </a:p>
        </p:txBody>
      </p:sp>
      <p:sp>
        <p:nvSpPr>
          <p:cNvPr id="6" name="Text 4"/>
          <p:cNvSpPr/>
          <p:nvPr/>
        </p:nvSpPr>
        <p:spPr>
          <a:xfrm>
            <a:off x="640080" y="1554480"/>
            <a:ext cx="3566160" cy="3200400"/>
          </a:xfrm>
          <a:prstGeom prst="rect">
            <a:avLst/>
          </a:prstGeom>
          <a:noFill/>
          <a:ln/>
        </p:spPr>
        <p:txBody>
          <a:bodyPr wrap="square" rtlCol="0" anchor="t"/>
          <a:lstStyle/>
          <a:p>
            <a:pPr marL="0" indent="0">
              <a:buNone/>
            </a:pPr>
            <a:r>
              <a:rPr lang="en-US" sz="1200" b="1" dirty="0">
                <a:solidFill>
                  <a:srgbClr val="1E293B"/>
                </a:solidFill>
                <a:latin typeface="Arial" pitchFamily="34" charset="0"/>
                <a:ea typeface="Arial" pitchFamily="34" charset="-122"/>
                <a:cs typeface="Arial" pitchFamily="34" charset="-120"/>
              </a:rPr>
              <a:t>1. Create an empty Python list
</a:t>
            </a:r>
            <a:endParaRPr lang="en-US" sz="1200" dirty="0"/>
          </a:p>
          <a:p>
            <a:pPr marL="0" indent="0">
              <a:buNone/>
            </a:pPr>
            <a:r>
              <a:rPr lang="en-US" sz="1100" dirty="0">
                <a:solidFill>
                  <a:srgbClr val="475569"/>
                </a:solidFill>
                <a:latin typeface="Arial" pitchFamily="34" charset="0"/>
                <a:ea typeface="Arial" pitchFamily="34" charset="-122"/>
                <a:cs typeface="Arial" pitchFamily="34" charset="-120"/>
              </a:rPr>
              <a:t>conversation_history = []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2. On each user message:
</a:t>
            </a:r>
            <a:endParaRPr lang="en-US" sz="1200" dirty="0"/>
          </a:p>
          <a:p>
            <a:pPr marL="0" indent="0">
              <a:buNone/>
            </a:pPr>
            <a:r>
              <a:rPr lang="en-US" sz="1100" dirty="0">
                <a:solidFill>
                  <a:srgbClr val="1E293B"/>
                </a:solidFill>
                <a:latin typeface="Arial" pitchFamily="34" charset="0"/>
                <a:ea typeface="Arial" pitchFamily="34" charset="-122"/>
                <a:cs typeface="Arial" pitchFamily="34" charset="-120"/>
              </a:rPr>
              <a:t>   • Add user message to list
   • Call LLM with FULL list
   • Add agent reply to list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3. Repeat for next message</a:t>
            </a:r>
            <a:endParaRPr lang="en-US" sz="1200" dirty="0"/>
          </a:p>
        </p:txBody>
      </p:sp>
      <p:sp>
        <p:nvSpPr>
          <p:cNvPr id="7" name="Text 5"/>
          <p:cNvSpPr/>
          <p:nvPr/>
        </p:nvSpPr>
        <p:spPr>
          <a:xfrm>
            <a:off x="4754880" y="1005840"/>
            <a:ext cx="3931920" cy="320040"/>
          </a:xfrm>
          <a:prstGeom prst="rect">
            <a:avLst/>
          </a:prstGeom>
          <a:noFill/>
          <a:ln/>
        </p:spPr>
        <p:txBody>
          <a:bodyPr wrap="square" rtlCol="0" anchor="ctr"/>
          <a:lstStyle/>
          <a:p>
            <a:pPr marL="0" indent="0">
              <a:buNone/>
            </a:pPr>
            <a:r>
              <a:rPr lang="en-US" sz="1600" b="1" dirty="0">
                <a:solidFill>
                  <a:srgbClr val="1E293B"/>
                </a:solidFill>
                <a:latin typeface="Arial" pitchFamily="34" charset="0"/>
                <a:ea typeface="Arial" pitchFamily="34" charset="-122"/>
                <a:cs typeface="Arial" pitchFamily="34" charset="-120"/>
              </a:rPr>
              <a:t>When to Use:</a:t>
            </a:r>
            <a:endParaRPr lang="en-US" sz="1600" dirty="0"/>
          </a:p>
        </p:txBody>
      </p:sp>
      <p:sp>
        <p:nvSpPr>
          <p:cNvPr id="8" name="Shape 6"/>
          <p:cNvSpPr/>
          <p:nvPr/>
        </p:nvSpPr>
        <p:spPr>
          <a:xfrm>
            <a:off x="4754880" y="1417320"/>
            <a:ext cx="3931920" cy="1600200"/>
          </a:xfrm>
          <a:prstGeom prst="roundRect">
            <a:avLst>
              <a:gd name="adj" fmla="val 5714"/>
            </a:avLst>
          </a:prstGeom>
          <a:solidFill>
            <a:srgbClr val="DCFCE7"/>
          </a:solidFill>
          <a:ln/>
        </p:spPr>
        <p:txBody>
          <a:bodyPr/>
          <a:lstStyle/>
          <a:p>
            <a:endParaRPr lang="en-US"/>
          </a:p>
        </p:txBody>
      </p:sp>
      <p:sp>
        <p:nvSpPr>
          <p:cNvPr id="9" name="Text 7"/>
          <p:cNvSpPr/>
          <p:nvPr/>
        </p:nvSpPr>
        <p:spPr>
          <a:xfrm>
            <a:off x="4937760" y="1554480"/>
            <a:ext cx="3566160" cy="1463040"/>
          </a:xfrm>
          <a:prstGeom prst="rect">
            <a:avLst/>
          </a:prstGeom>
          <a:noFill/>
          <a:ln/>
        </p:spPr>
        <p:txBody>
          <a:bodyPr wrap="square" rtlCol="0" anchor="t"/>
          <a:lstStyle/>
          <a:p>
            <a:pPr marL="0" indent="0">
              <a:buNone/>
            </a:pPr>
            <a:r>
              <a:rPr lang="en-US" sz="1200" b="1" dirty="0">
                <a:solidFill>
                  <a:srgbClr val="16A34A"/>
                </a:solidFill>
                <a:latin typeface="Arial" pitchFamily="34" charset="0"/>
                <a:ea typeface="Arial" pitchFamily="34" charset="-122"/>
                <a:cs typeface="Arial" pitchFamily="34" charset="-120"/>
              </a:rPr>
              <a:t>✅ PROS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Super simple to understand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Full control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Perfect for demos &amp; scripts</a:t>
            </a:r>
            <a:endParaRPr lang="en-US" sz="1200" dirty="0"/>
          </a:p>
        </p:txBody>
      </p:sp>
      <p:sp>
        <p:nvSpPr>
          <p:cNvPr id="10" name="Shape 8"/>
          <p:cNvSpPr/>
          <p:nvPr/>
        </p:nvSpPr>
        <p:spPr>
          <a:xfrm>
            <a:off x="4754880" y="3063240"/>
            <a:ext cx="3931920" cy="1737360"/>
          </a:xfrm>
          <a:prstGeom prst="roundRect">
            <a:avLst>
              <a:gd name="adj" fmla="val 5263"/>
            </a:avLst>
          </a:prstGeom>
          <a:solidFill>
            <a:srgbClr val="FEE2E2"/>
          </a:solidFill>
          <a:ln/>
        </p:spPr>
        <p:txBody>
          <a:bodyPr/>
          <a:lstStyle/>
          <a:p>
            <a:endParaRPr lang="en-US"/>
          </a:p>
        </p:txBody>
      </p:sp>
      <p:sp>
        <p:nvSpPr>
          <p:cNvPr id="11" name="Text 9"/>
          <p:cNvSpPr/>
          <p:nvPr/>
        </p:nvSpPr>
        <p:spPr>
          <a:xfrm>
            <a:off x="4937760" y="3200400"/>
            <a:ext cx="3566160" cy="1600200"/>
          </a:xfrm>
          <a:prstGeom prst="rect">
            <a:avLst/>
          </a:prstGeom>
          <a:noFill/>
          <a:ln/>
        </p:spPr>
        <p:txBody>
          <a:bodyPr wrap="square" rtlCol="0" anchor="t"/>
          <a:lstStyle/>
          <a:p>
            <a:pPr marL="0" indent="0">
              <a:buNone/>
            </a:pPr>
            <a:r>
              <a:rPr lang="en-US" sz="1200" b="1" dirty="0">
                <a:solidFill>
                  <a:srgbClr val="DC2626"/>
                </a:solidFill>
                <a:latin typeface="Arial" pitchFamily="34" charset="0"/>
                <a:ea typeface="Arial" pitchFamily="34" charset="-122"/>
                <a:cs typeface="Arial" pitchFamily="34" charset="-120"/>
              </a:rPr>
              <a:t>❌ CONS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Lost on restart (no storage)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YOU manage complexity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Multi-user = painful</a:t>
            </a:r>
            <a:endParaRPr lang="en-US" sz="1200" dirty="0"/>
          </a:p>
        </p:txBody>
      </p:sp>
      <p:sp>
        <p:nvSpPr>
          <p:cNvPr id="12" name="Text 10"/>
          <p:cNvSpPr/>
          <p:nvPr/>
        </p:nvSpPr>
        <p:spPr>
          <a:xfrm>
            <a:off x="457200" y="4754880"/>
            <a:ext cx="8229600" cy="320040"/>
          </a:xfrm>
          <a:prstGeom prst="rect">
            <a:avLst/>
          </a:prstGeom>
          <a:noFill/>
          <a:ln/>
        </p:spPr>
        <p:txBody>
          <a:bodyPr wrap="square" rtlCol="0" anchor="ctr"/>
          <a:lstStyle/>
          <a:p>
            <a:pPr marL="0" indent="0">
              <a:buNone/>
            </a:pPr>
            <a:r>
              <a:rPr lang="en-US" sz="1300" i="1" dirty="0">
                <a:solidFill>
                  <a:srgbClr val="475569"/>
                </a:solidFill>
                <a:latin typeface="Arial" pitchFamily="34" charset="0"/>
                <a:ea typeface="Arial" pitchFamily="34" charset="-122"/>
                <a:cs typeface="Arial" pitchFamily="34" charset="-120"/>
              </a:rPr>
              <a:t>💡 Use Case: Training, scripts, single-user demos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93B"/>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Approach 2: MemorySaver (In-Memory)</a:t>
            </a:r>
            <a:endParaRPr lang="en-US" sz="3200" dirty="0"/>
          </a:p>
        </p:txBody>
      </p:sp>
      <p:sp>
        <p:nvSpPr>
          <p:cNvPr id="4" name="Text 2"/>
          <p:cNvSpPr/>
          <p:nvPr/>
        </p:nvSpPr>
        <p:spPr>
          <a:xfrm>
            <a:off x="457200" y="1005840"/>
            <a:ext cx="3931920" cy="320040"/>
          </a:xfrm>
          <a:prstGeom prst="rect">
            <a:avLst/>
          </a:prstGeom>
          <a:noFill/>
          <a:ln/>
        </p:spPr>
        <p:txBody>
          <a:bodyPr wrap="square" rtlCol="0" anchor="ctr"/>
          <a:lstStyle/>
          <a:p>
            <a:pPr marL="0" indent="0">
              <a:buNone/>
            </a:pPr>
            <a:r>
              <a:rPr lang="en-US" sz="1600" b="1" dirty="0">
                <a:solidFill>
                  <a:srgbClr val="0D9488"/>
                </a:solidFill>
                <a:latin typeface="Arial" pitchFamily="34" charset="0"/>
                <a:ea typeface="Arial" pitchFamily="34" charset="-122"/>
                <a:cs typeface="Arial" pitchFamily="34" charset="-120"/>
              </a:rPr>
              <a:t>What LangGraph Does:</a:t>
            </a:r>
            <a:endParaRPr lang="en-US" sz="1600" dirty="0"/>
          </a:p>
        </p:txBody>
      </p:sp>
      <p:sp>
        <p:nvSpPr>
          <p:cNvPr id="5" name="Shape 3"/>
          <p:cNvSpPr/>
          <p:nvPr/>
        </p:nvSpPr>
        <p:spPr>
          <a:xfrm>
            <a:off x="457200" y="1417320"/>
            <a:ext cx="3931920" cy="3383280"/>
          </a:xfrm>
          <a:prstGeom prst="roundRect">
            <a:avLst>
              <a:gd name="adj" fmla="val 2703"/>
            </a:avLst>
          </a:prstGeom>
          <a:solidFill>
            <a:srgbClr val="F8FAFC"/>
          </a:solidFill>
          <a:ln/>
        </p:spPr>
        <p:txBody>
          <a:bodyPr/>
          <a:lstStyle/>
          <a:p>
            <a:endParaRPr lang="en-US"/>
          </a:p>
        </p:txBody>
      </p:sp>
      <p:sp>
        <p:nvSpPr>
          <p:cNvPr id="6" name="Text 4"/>
          <p:cNvSpPr/>
          <p:nvPr/>
        </p:nvSpPr>
        <p:spPr>
          <a:xfrm>
            <a:off x="640080" y="1554480"/>
            <a:ext cx="3566160" cy="3200400"/>
          </a:xfrm>
          <a:prstGeom prst="rect">
            <a:avLst/>
          </a:prstGeom>
          <a:noFill/>
          <a:ln/>
        </p:spPr>
        <p:txBody>
          <a:bodyPr wrap="square" rtlCol="0" anchor="t"/>
          <a:lstStyle/>
          <a:p>
            <a:pPr marL="0" indent="0">
              <a:buNone/>
            </a:pPr>
            <a:r>
              <a:rPr lang="en-US" sz="1200" b="1" dirty="0">
                <a:solidFill>
                  <a:srgbClr val="1E293B"/>
                </a:solidFill>
                <a:latin typeface="Arial" pitchFamily="34" charset="0"/>
                <a:ea typeface="Arial" pitchFamily="34" charset="-122"/>
                <a:cs typeface="Arial" pitchFamily="34" charset="-120"/>
              </a:rPr>
              <a:t>1. Add MemorySaver to agent:
</a:t>
            </a:r>
            <a:endParaRPr lang="en-US" sz="1200" dirty="0"/>
          </a:p>
          <a:p>
            <a:pPr marL="0" indent="0">
              <a:buNone/>
            </a:pPr>
            <a:r>
              <a:rPr lang="en-US" sz="1100" dirty="0">
                <a:solidFill>
                  <a:srgbClr val="475569"/>
                </a:solidFill>
                <a:latin typeface="Arial" pitchFamily="34" charset="0"/>
                <a:ea typeface="Arial" pitchFamily="34" charset="-122"/>
                <a:cs typeface="Arial" pitchFamily="34" charset="-120"/>
              </a:rPr>
              <a:t>checkpointer=MemorySaver()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2. Provide a thread_id:
</a:t>
            </a:r>
            <a:endParaRPr lang="en-US" sz="1200" dirty="0"/>
          </a:p>
          <a:p>
            <a:pPr marL="0" indent="0">
              <a:buNone/>
            </a:pPr>
            <a:r>
              <a:rPr lang="en-US" sz="1100" dirty="0">
                <a:solidFill>
                  <a:srgbClr val="475569"/>
                </a:solidFill>
                <a:latin typeface="Arial" pitchFamily="34" charset="0"/>
                <a:ea typeface="Arial" pitchFamily="34" charset="-122"/>
                <a:cs typeface="Arial" pitchFamily="34" charset="-120"/>
              </a:rPr>
              <a:t>config = {"configurable": {
  "thread_id": "user_123"}}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3. LangGraph handles history</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(you just call the agent)</a:t>
            </a:r>
            <a:endParaRPr lang="en-US" sz="1200" dirty="0"/>
          </a:p>
        </p:txBody>
      </p:sp>
      <p:sp>
        <p:nvSpPr>
          <p:cNvPr id="7" name="Text 5"/>
          <p:cNvSpPr/>
          <p:nvPr/>
        </p:nvSpPr>
        <p:spPr>
          <a:xfrm>
            <a:off x="4754880" y="1005840"/>
            <a:ext cx="3931920" cy="320040"/>
          </a:xfrm>
          <a:prstGeom prst="rect">
            <a:avLst/>
          </a:prstGeom>
          <a:noFill/>
          <a:ln/>
        </p:spPr>
        <p:txBody>
          <a:bodyPr wrap="square" rtlCol="0" anchor="ctr"/>
          <a:lstStyle/>
          <a:p>
            <a:pPr marL="0" indent="0">
              <a:buNone/>
            </a:pPr>
            <a:r>
              <a:rPr lang="en-US" sz="1600" b="1" dirty="0">
                <a:solidFill>
                  <a:srgbClr val="1E293B"/>
                </a:solidFill>
                <a:latin typeface="Arial" pitchFamily="34" charset="0"/>
                <a:ea typeface="Arial" pitchFamily="34" charset="-122"/>
                <a:cs typeface="Arial" pitchFamily="34" charset="-120"/>
              </a:rPr>
              <a:t>When to Use:</a:t>
            </a:r>
            <a:endParaRPr lang="en-US" sz="1600" dirty="0"/>
          </a:p>
        </p:txBody>
      </p:sp>
      <p:sp>
        <p:nvSpPr>
          <p:cNvPr id="8" name="Shape 6"/>
          <p:cNvSpPr/>
          <p:nvPr/>
        </p:nvSpPr>
        <p:spPr>
          <a:xfrm>
            <a:off x="4754880" y="1417320"/>
            <a:ext cx="3931920" cy="1600200"/>
          </a:xfrm>
          <a:prstGeom prst="roundRect">
            <a:avLst>
              <a:gd name="adj" fmla="val 5714"/>
            </a:avLst>
          </a:prstGeom>
          <a:solidFill>
            <a:srgbClr val="DCFCE7"/>
          </a:solidFill>
          <a:ln/>
        </p:spPr>
        <p:txBody>
          <a:bodyPr/>
          <a:lstStyle/>
          <a:p>
            <a:endParaRPr lang="en-US"/>
          </a:p>
        </p:txBody>
      </p:sp>
      <p:sp>
        <p:nvSpPr>
          <p:cNvPr id="9" name="Text 7"/>
          <p:cNvSpPr/>
          <p:nvPr/>
        </p:nvSpPr>
        <p:spPr>
          <a:xfrm>
            <a:off x="4937760" y="1554480"/>
            <a:ext cx="3566160" cy="1463040"/>
          </a:xfrm>
          <a:prstGeom prst="rect">
            <a:avLst/>
          </a:prstGeom>
          <a:noFill/>
          <a:ln/>
        </p:spPr>
        <p:txBody>
          <a:bodyPr wrap="square" rtlCol="0" anchor="t"/>
          <a:lstStyle/>
          <a:p>
            <a:pPr marL="0" indent="0">
              <a:buNone/>
            </a:pPr>
            <a:r>
              <a:rPr lang="en-US" sz="1200" b="1" dirty="0">
                <a:solidFill>
                  <a:srgbClr val="16A34A"/>
                </a:solidFill>
                <a:latin typeface="Arial" pitchFamily="34" charset="0"/>
                <a:ea typeface="Arial" pitchFamily="34" charset="-122"/>
                <a:cs typeface="Arial" pitchFamily="34" charset="-120"/>
              </a:rPr>
              <a:t>✅ PROS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Framework handles it for you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Clean, minimal code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Easy multi-user (diff thread_id)</a:t>
            </a:r>
            <a:endParaRPr lang="en-US" sz="1200" dirty="0"/>
          </a:p>
        </p:txBody>
      </p:sp>
      <p:sp>
        <p:nvSpPr>
          <p:cNvPr id="10" name="Shape 8"/>
          <p:cNvSpPr/>
          <p:nvPr/>
        </p:nvSpPr>
        <p:spPr>
          <a:xfrm>
            <a:off x="4754880" y="3063240"/>
            <a:ext cx="3931920" cy="1737360"/>
          </a:xfrm>
          <a:prstGeom prst="roundRect">
            <a:avLst>
              <a:gd name="adj" fmla="val 5263"/>
            </a:avLst>
          </a:prstGeom>
          <a:solidFill>
            <a:srgbClr val="FEE2E2"/>
          </a:solidFill>
          <a:ln/>
        </p:spPr>
        <p:txBody>
          <a:bodyPr/>
          <a:lstStyle/>
          <a:p>
            <a:endParaRPr lang="en-US"/>
          </a:p>
        </p:txBody>
      </p:sp>
      <p:sp>
        <p:nvSpPr>
          <p:cNvPr id="11" name="Text 9"/>
          <p:cNvSpPr/>
          <p:nvPr/>
        </p:nvSpPr>
        <p:spPr>
          <a:xfrm>
            <a:off x="4937760" y="3200400"/>
            <a:ext cx="3566160" cy="1600200"/>
          </a:xfrm>
          <a:prstGeom prst="rect">
            <a:avLst/>
          </a:prstGeom>
          <a:noFill/>
          <a:ln/>
        </p:spPr>
        <p:txBody>
          <a:bodyPr wrap="square" rtlCol="0" anchor="t"/>
          <a:lstStyle/>
          <a:p>
            <a:pPr marL="0" indent="0">
              <a:buNone/>
            </a:pPr>
            <a:r>
              <a:rPr lang="en-US" sz="1200" b="1" dirty="0">
                <a:solidFill>
                  <a:srgbClr val="DC2626"/>
                </a:solidFill>
                <a:latin typeface="Arial" pitchFamily="34" charset="0"/>
                <a:ea typeface="Arial" pitchFamily="34" charset="-122"/>
                <a:cs typeface="Arial" pitchFamily="34" charset="-120"/>
              </a:rPr>
              <a:t>❌ CONS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Stored in RAM only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Restart = lost history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Not for production apps</a:t>
            </a:r>
            <a:endParaRPr lang="en-US" sz="1200" dirty="0"/>
          </a:p>
        </p:txBody>
      </p:sp>
      <p:sp>
        <p:nvSpPr>
          <p:cNvPr id="12" name="Text 10"/>
          <p:cNvSpPr/>
          <p:nvPr/>
        </p:nvSpPr>
        <p:spPr>
          <a:xfrm>
            <a:off x="457200" y="4754880"/>
            <a:ext cx="8229600" cy="320040"/>
          </a:xfrm>
          <a:prstGeom prst="rect">
            <a:avLst/>
          </a:prstGeom>
          <a:noFill/>
          <a:ln/>
        </p:spPr>
        <p:txBody>
          <a:bodyPr wrap="square" rtlCol="0" anchor="ctr"/>
          <a:lstStyle/>
          <a:p>
            <a:pPr marL="0" indent="0">
              <a:buNone/>
            </a:pPr>
            <a:r>
              <a:rPr lang="en-US" sz="1300" i="1" dirty="0">
                <a:solidFill>
                  <a:srgbClr val="475569"/>
                </a:solidFill>
                <a:latin typeface="Arial" pitchFamily="34" charset="0"/>
                <a:ea typeface="Arial" pitchFamily="34" charset="-122"/>
                <a:cs typeface="Arial" pitchFamily="34" charset="-120"/>
              </a:rPr>
              <a:t>💡 Use Case: Development, testing, single-server demos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93B"/>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Approach 3: SqliteSaver (Persistent)</a:t>
            </a:r>
            <a:endParaRPr lang="en-US" sz="3200" dirty="0"/>
          </a:p>
        </p:txBody>
      </p:sp>
      <p:sp>
        <p:nvSpPr>
          <p:cNvPr id="4" name="Text 2"/>
          <p:cNvSpPr/>
          <p:nvPr/>
        </p:nvSpPr>
        <p:spPr>
          <a:xfrm>
            <a:off x="457200" y="1005840"/>
            <a:ext cx="3931920" cy="320040"/>
          </a:xfrm>
          <a:prstGeom prst="rect">
            <a:avLst/>
          </a:prstGeom>
          <a:noFill/>
          <a:ln/>
        </p:spPr>
        <p:txBody>
          <a:bodyPr wrap="square" rtlCol="0" anchor="ctr"/>
          <a:lstStyle/>
          <a:p>
            <a:pPr marL="0" indent="0">
              <a:buNone/>
            </a:pPr>
            <a:r>
              <a:rPr lang="en-US" sz="1600" b="1" dirty="0">
                <a:solidFill>
                  <a:srgbClr val="16A34A"/>
                </a:solidFill>
                <a:latin typeface="Arial" pitchFamily="34" charset="0"/>
                <a:ea typeface="Arial" pitchFamily="34" charset="-122"/>
                <a:cs typeface="Arial" pitchFamily="34" charset="-120"/>
              </a:rPr>
              <a:t>What LangGraph Does:</a:t>
            </a:r>
            <a:endParaRPr lang="en-US" sz="1600" dirty="0"/>
          </a:p>
        </p:txBody>
      </p:sp>
      <p:sp>
        <p:nvSpPr>
          <p:cNvPr id="5" name="Shape 3"/>
          <p:cNvSpPr/>
          <p:nvPr/>
        </p:nvSpPr>
        <p:spPr>
          <a:xfrm>
            <a:off x="457200" y="1417320"/>
            <a:ext cx="3931920" cy="3383280"/>
          </a:xfrm>
          <a:prstGeom prst="roundRect">
            <a:avLst>
              <a:gd name="adj" fmla="val 2703"/>
            </a:avLst>
          </a:prstGeom>
          <a:solidFill>
            <a:srgbClr val="F8FAFC"/>
          </a:solidFill>
          <a:ln/>
        </p:spPr>
        <p:txBody>
          <a:bodyPr/>
          <a:lstStyle/>
          <a:p>
            <a:endParaRPr lang="en-US"/>
          </a:p>
        </p:txBody>
      </p:sp>
      <p:sp>
        <p:nvSpPr>
          <p:cNvPr id="6" name="Text 4"/>
          <p:cNvSpPr/>
          <p:nvPr/>
        </p:nvSpPr>
        <p:spPr>
          <a:xfrm>
            <a:off x="640080" y="1554480"/>
            <a:ext cx="3566160" cy="3200400"/>
          </a:xfrm>
          <a:prstGeom prst="rect">
            <a:avLst/>
          </a:prstGeom>
          <a:noFill/>
          <a:ln/>
        </p:spPr>
        <p:txBody>
          <a:bodyPr wrap="square" rtlCol="0" anchor="t"/>
          <a:lstStyle/>
          <a:p>
            <a:pPr marL="0" indent="0">
              <a:buNone/>
            </a:pPr>
            <a:r>
              <a:rPr lang="en-US" sz="1200" b="1" dirty="0">
                <a:solidFill>
                  <a:srgbClr val="1E293B"/>
                </a:solidFill>
                <a:latin typeface="Arial" pitchFamily="34" charset="0"/>
                <a:ea typeface="Arial" pitchFamily="34" charset="-122"/>
                <a:cs typeface="Arial" pitchFamily="34" charset="-120"/>
              </a:rPr>
              <a:t>1. Add SqliteSaver:
</a:t>
            </a:r>
            <a:endParaRPr lang="en-US" sz="1200" dirty="0"/>
          </a:p>
          <a:p>
            <a:pPr marL="0" indent="0">
              <a:buNone/>
            </a:pPr>
            <a:r>
              <a:rPr lang="en-US" sz="1100" dirty="0">
                <a:solidFill>
                  <a:srgbClr val="475569"/>
                </a:solidFill>
                <a:latin typeface="Arial" pitchFamily="34" charset="0"/>
                <a:ea typeface="Arial" pitchFamily="34" charset="-122"/>
                <a:cs typeface="Arial" pitchFamily="34" charset="-120"/>
              </a:rPr>
              <a:t>db_path = "memory.db"
checkpointer=SqliteSaver.from_conn_string(db_path)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2. Use same thread_id:
</a:t>
            </a:r>
            <a:endParaRPr lang="en-US" sz="1200" dirty="0"/>
          </a:p>
          <a:p>
            <a:pPr marL="0" indent="0">
              <a:buNone/>
            </a:pPr>
            <a:r>
              <a:rPr lang="en-US" sz="1100" dirty="0">
                <a:solidFill>
                  <a:srgbClr val="475569"/>
                </a:solidFill>
                <a:latin typeface="Arial" pitchFamily="34" charset="0"/>
                <a:ea typeface="Arial" pitchFamily="34" charset="-122"/>
                <a:cs typeface="Arial" pitchFamily="34" charset="-120"/>
              </a:rPr>
              <a:t>config = {"configurable": {
  "thread_id": "user_123"}}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3. History saved to DISK</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(survives restarts!)</a:t>
            </a:r>
            <a:endParaRPr lang="en-US" sz="1200" dirty="0"/>
          </a:p>
        </p:txBody>
      </p:sp>
      <p:sp>
        <p:nvSpPr>
          <p:cNvPr id="7" name="Text 5"/>
          <p:cNvSpPr/>
          <p:nvPr/>
        </p:nvSpPr>
        <p:spPr>
          <a:xfrm>
            <a:off x="4754880" y="1005840"/>
            <a:ext cx="3931920" cy="320040"/>
          </a:xfrm>
          <a:prstGeom prst="rect">
            <a:avLst/>
          </a:prstGeom>
          <a:noFill/>
          <a:ln/>
        </p:spPr>
        <p:txBody>
          <a:bodyPr wrap="square" rtlCol="0" anchor="ctr"/>
          <a:lstStyle/>
          <a:p>
            <a:pPr marL="0" indent="0">
              <a:buNone/>
            </a:pPr>
            <a:r>
              <a:rPr lang="en-US" sz="1600" b="1" dirty="0">
                <a:solidFill>
                  <a:srgbClr val="1E293B"/>
                </a:solidFill>
                <a:latin typeface="Arial" pitchFamily="34" charset="0"/>
                <a:ea typeface="Arial" pitchFamily="34" charset="-122"/>
                <a:cs typeface="Arial" pitchFamily="34" charset="-120"/>
              </a:rPr>
              <a:t>When to Use:</a:t>
            </a:r>
            <a:endParaRPr lang="en-US" sz="1600" dirty="0"/>
          </a:p>
        </p:txBody>
      </p:sp>
      <p:sp>
        <p:nvSpPr>
          <p:cNvPr id="8" name="Shape 6"/>
          <p:cNvSpPr/>
          <p:nvPr/>
        </p:nvSpPr>
        <p:spPr>
          <a:xfrm>
            <a:off x="4754880" y="1417320"/>
            <a:ext cx="3931920" cy="1600200"/>
          </a:xfrm>
          <a:prstGeom prst="roundRect">
            <a:avLst>
              <a:gd name="adj" fmla="val 5714"/>
            </a:avLst>
          </a:prstGeom>
          <a:solidFill>
            <a:srgbClr val="DCFCE7"/>
          </a:solidFill>
          <a:ln/>
        </p:spPr>
        <p:txBody>
          <a:bodyPr/>
          <a:lstStyle/>
          <a:p>
            <a:endParaRPr lang="en-US"/>
          </a:p>
        </p:txBody>
      </p:sp>
      <p:sp>
        <p:nvSpPr>
          <p:cNvPr id="9" name="Text 7"/>
          <p:cNvSpPr/>
          <p:nvPr/>
        </p:nvSpPr>
        <p:spPr>
          <a:xfrm>
            <a:off x="4937760" y="1554480"/>
            <a:ext cx="3566160" cy="1463040"/>
          </a:xfrm>
          <a:prstGeom prst="rect">
            <a:avLst/>
          </a:prstGeom>
          <a:noFill/>
          <a:ln/>
        </p:spPr>
        <p:txBody>
          <a:bodyPr wrap="square" rtlCol="0" anchor="t"/>
          <a:lstStyle/>
          <a:p>
            <a:pPr marL="0" indent="0">
              <a:buNone/>
            </a:pPr>
            <a:r>
              <a:rPr lang="en-US" sz="1200" b="1" dirty="0">
                <a:solidFill>
                  <a:srgbClr val="16A34A"/>
                </a:solidFill>
                <a:latin typeface="Arial" pitchFamily="34" charset="0"/>
                <a:ea typeface="Arial" pitchFamily="34" charset="-122"/>
                <a:cs typeface="Arial" pitchFamily="34" charset="-120"/>
              </a:rPr>
              <a:t>✅ PROS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Persists across restarts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Production-ready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Minimal code change</a:t>
            </a:r>
            <a:endParaRPr lang="en-US" sz="1200" dirty="0"/>
          </a:p>
        </p:txBody>
      </p:sp>
      <p:sp>
        <p:nvSpPr>
          <p:cNvPr id="10" name="Shape 8"/>
          <p:cNvSpPr/>
          <p:nvPr/>
        </p:nvSpPr>
        <p:spPr>
          <a:xfrm>
            <a:off x="4754880" y="3063240"/>
            <a:ext cx="3931920" cy="1737360"/>
          </a:xfrm>
          <a:prstGeom prst="roundRect">
            <a:avLst>
              <a:gd name="adj" fmla="val 5263"/>
            </a:avLst>
          </a:prstGeom>
          <a:solidFill>
            <a:srgbClr val="FEE2E2"/>
          </a:solidFill>
          <a:ln/>
        </p:spPr>
        <p:txBody>
          <a:bodyPr/>
          <a:lstStyle/>
          <a:p>
            <a:endParaRPr lang="en-US"/>
          </a:p>
        </p:txBody>
      </p:sp>
      <p:sp>
        <p:nvSpPr>
          <p:cNvPr id="11" name="Text 9"/>
          <p:cNvSpPr/>
          <p:nvPr/>
        </p:nvSpPr>
        <p:spPr>
          <a:xfrm>
            <a:off x="4937760" y="3200400"/>
            <a:ext cx="3566160" cy="1600200"/>
          </a:xfrm>
          <a:prstGeom prst="rect">
            <a:avLst/>
          </a:prstGeom>
          <a:noFill/>
          <a:ln/>
        </p:spPr>
        <p:txBody>
          <a:bodyPr wrap="square" rtlCol="0" anchor="t"/>
          <a:lstStyle/>
          <a:p>
            <a:pPr marL="0" indent="0">
              <a:buNone/>
            </a:pPr>
            <a:r>
              <a:rPr lang="en-US" sz="1200" b="1" dirty="0">
                <a:solidFill>
                  <a:srgbClr val="DC2626"/>
                </a:solidFill>
                <a:latin typeface="Arial" pitchFamily="34" charset="0"/>
                <a:ea typeface="Arial" pitchFamily="34" charset="-122"/>
                <a:cs typeface="Arial" pitchFamily="34" charset="-120"/>
              </a:rPr>
              <a:t>❌ CONS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Need to manage DB migrations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For multi-server: use PostgreSQL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 Slightly more overhead</a:t>
            </a:r>
            <a:endParaRPr lang="en-US" sz="1200" dirty="0"/>
          </a:p>
        </p:txBody>
      </p:sp>
      <p:sp>
        <p:nvSpPr>
          <p:cNvPr id="12" name="Text 10"/>
          <p:cNvSpPr/>
          <p:nvPr/>
        </p:nvSpPr>
        <p:spPr>
          <a:xfrm>
            <a:off x="457200" y="4754880"/>
            <a:ext cx="8229600" cy="320040"/>
          </a:xfrm>
          <a:prstGeom prst="rect">
            <a:avLst/>
          </a:prstGeom>
          <a:noFill/>
          <a:ln/>
        </p:spPr>
        <p:txBody>
          <a:bodyPr wrap="square" rtlCol="0" anchor="ctr"/>
          <a:lstStyle/>
          <a:p>
            <a:pPr marL="0" indent="0">
              <a:buNone/>
            </a:pPr>
            <a:r>
              <a:rPr lang="en-US" sz="1300" i="1" dirty="0">
                <a:solidFill>
                  <a:srgbClr val="475569"/>
                </a:solidFill>
                <a:latin typeface="Arial" pitchFamily="34" charset="0"/>
                <a:ea typeface="Arial" pitchFamily="34" charset="-122"/>
                <a:cs typeface="Arial" pitchFamily="34" charset="-120"/>
              </a:rPr>
              <a:t>💡 Use Case: Production apps, persistent conversations, real support bots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475569"/>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Quick Comparison: All Three Approaches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4274064429"/>
              </p:ext>
            </p:extLst>
          </p:nvPr>
        </p:nvGraphicFramePr>
        <p:xfrm>
          <a:off x="365760" y="960120"/>
          <a:ext cx="8229600" cy="3520440"/>
        </p:xfrm>
        <a:graphic>
          <a:graphicData uri="http://schemas.openxmlformats.org/drawingml/2006/table">
            <a:tbl>
              <a:tblPr/>
              <a:tblGrid>
                <a:gridCol w="1645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02920">
                <a:tc>
                  <a:txBody>
                    <a:bodyPr/>
                    <a:lstStyle/>
                    <a:p>
                      <a:pPr marL="0" indent="0" algn="l">
                        <a:buNone/>
                      </a:pPr>
                      <a:r>
                        <a:rPr lang="en-US" sz="1200" b="1" dirty="0">
                          <a:solidFill>
                            <a:srgbClr val="FFFFFF"/>
                          </a:solidFill>
                          <a:highlight>
                            <a:srgbClr val="FFFF00"/>
                          </a:highlight>
                          <a:latin typeface="Arial" pitchFamily="34" charset="0"/>
                          <a:ea typeface="Arial" pitchFamily="34" charset="-122"/>
                          <a:cs typeface="Arial" pitchFamily="34" charset="-120"/>
                        </a:rPr>
                        <a:t>Aspect</a:t>
                      </a:r>
                      <a:endParaRPr lang="en-US" sz="1200" dirty="0">
                        <a:highlight>
                          <a:srgbClr val="FFFF00"/>
                        </a:highlight>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b="1" dirty="0">
                          <a:solidFill>
                            <a:srgbClr val="FFFFFF"/>
                          </a:solidFill>
                          <a:highlight>
                            <a:srgbClr val="FFFF00"/>
                          </a:highlight>
                          <a:latin typeface="Arial" pitchFamily="34" charset="0"/>
                          <a:ea typeface="Arial" pitchFamily="34" charset="-122"/>
                          <a:cs typeface="Arial" pitchFamily="34" charset="-120"/>
                        </a:rPr>
                        <a:t>Manual List</a:t>
                      </a:r>
                      <a:endParaRPr lang="en-US" sz="1200" dirty="0">
                        <a:highlight>
                          <a:srgbClr val="FFFF00"/>
                        </a:highlight>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b="1" dirty="0">
                          <a:solidFill>
                            <a:srgbClr val="FFFFFF"/>
                          </a:solidFill>
                          <a:highlight>
                            <a:srgbClr val="FFFF00"/>
                          </a:highlight>
                          <a:latin typeface="Arial" pitchFamily="34" charset="0"/>
                          <a:ea typeface="Arial" pitchFamily="34" charset="-122"/>
                          <a:cs typeface="Arial" pitchFamily="34" charset="-120"/>
                        </a:rPr>
                        <a:t>MemorySaver</a:t>
                      </a:r>
                      <a:endParaRPr lang="en-US" sz="1200" dirty="0">
                        <a:highlight>
                          <a:srgbClr val="FFFF00"/>
                        </a:highlight>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b="1" dirty="0">
                          <a:solidFill>
                            <a:srgbClr val="FFFFFF"/>
                          </a:solidFill>
                          <a:highlight>
                            <a:srgbClr val="FFFF00"/>
                          </a:highlight>
                          <a:latin typeface="Arial" pitchFamily="34" charset="0"/>
                          <a:ea typeface="Arial" pitchFamily="34" charset="-122"/>
                          <a:cs typeface="Arial" pitchFamily="34" charset="-120"/>
                        </a:rPr>
                        <a:t>SqliteSaver</a:t>
                      </a:r>
                      <a:endParaRPr lang="en-US" sz="1200" dirty="0">
                        <a:highlight>
                          <a:srgbClr val="FFFF00"/>
                        </a:highlight>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502920">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Code Effort</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High (manual management)</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Low (1 line)</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Low (1 line)</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502920">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Memory Storage</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Python list (RAM)</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LangGraph (RAM)</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SQLite (Disk)</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502920">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Survives Restart?</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No</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No</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502920">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Multi-User Support</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Complex</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Easy (thread_id)</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Easy (thread_id)</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502920">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Production Ready?</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No</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Dev only</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502920">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Best For</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Learning, demos</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Development, testing</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tc>
                  <a:txBody>
                    <a:bodyPr/>
                    <a:lstStyle/>
                    <a:p>
                      <a:pPr marL="0" indent="0" algn="l">
                        <a:buNone/>
                      </a:pPr>
                      <a:r>
                        <a:rPr lang="en-US" sz="1200" dirty="0">
                          <a:solidFill>
                            <a:srgbClr val="1E293B"/>
                          </a:solidFill>
                          <a:latin typeface="Arial" pitchFamily="34" charset="0"/>
                          <a:ea typeface="Arial" pitchFamily="34" charset="-122"/>
                          <a:cs typeface="Arial" pitchFamily="34" charset="-120"/>
                        </a:rPr>
                        <a:t>Production apps</a:t>
                      </a:r>
                      <a:endParaRPr lang="en-US" sz="1200" dirty="0">
                        <a:latin typeface="Arial" charset="0"/>
                        <a:ea typeface="Arial" charset="0"/>
                        <a:cs typeface="Arial" charset="0"/>
                      </a:endParaRPr>
                    </a:p>
                  </a:txBody>
                  <a:tcPr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9488"/>
          </a:solidFill>
          <a:ln/>
        </p:spPr>
        <p:txBody>
          <a:bodyPr/>
          <a:lstStyle/>
          <a:p>
            <a:endParaRPr lang="en-US"/>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3200" b="1" dirty="0">
                <a:solidFill>
                  <a:srgbClr val="FFFFFF"/>
                </a:solidFill>
                <a:latin typeface="Arial" pitchFamily="34" charset="0"/>
                <a:ea typeface="Arial" pitchFamily="34" charset="-122"/>
                <a:cs typeface="Arial" pitchFamily="34" charset="-120"/>
              </a:rPr>
              <a:t>🔑 The Key: Understanding thread_id</a:t>
            </a:r>
            <a:endParaRPr lang="en-US" sz="3200" dirty="0"/>
          </a:p>
        </p:txBody>
      </p:sp>
      <p:sp>
        <p:nvSpPr>
          <p:cNvPr id="4" name="Shape 2"/>
          <p:cNvSpPr/>
          <p:nvPr/>
        </p:nvSpPr>
        <p:spPr>
          <a:xfrm>
            <a:off x="457200" y="1005840"/>
            <a:ext cx="8229600" cy="822960"/>
          </a:xfrm>
          <a:prstGeom prst="roundRect">
            <a:avLst>
              <a:gd name="adj" fmla="val 11111"/>
            </a:avLst>
          </a:prstGeom>
          <a:solidFill>
            <a:srgbClr val="E0F2FE"/>
          </a:solidFill>
          <a:ln/>
        </p:spPr>
        <p:txBody>
          <a:bodyPr/>
          <a:lstStyle/>
          <a:p>
            <a:endParaRPr lang="en-US"/>
          </a:p>
        </p:txBody>
      </p:sp>
      <p:sp>
        <p:nvSpPr>
          <p:cNvPr id="5" name="Text 3"/>
          <p:cNvSpPr/>
          <p:nvPr/>
        </p:nvSpPr>
        <p:spPr>
          <a:xfrm>
            <a:off x="640080" y="1143000"/>
            <a:ext cx="7863840" cy="54864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thread_id = A unique identifier for one conversation thread</a:t>
            </a:r>
            <a:endParaRPr lang="en-US" sz="1500" dirty="0"/>
          </a:p>
        </p:txBody>
      </p:sp>
      <p:sp>
        <p:nvSpPr>
          <p:cNvPr id="6" name="Text 4"/>
          <p:cNvSpPr/>
          <p:nvPr/>
        </p:nvSpPr>
        <p:spPr>
          <a:xfrm>
            <a:off x="457200" y="2011680"/>
            <a:ext cx="3931920" cy="320040"/>
          </a:xfrm>
          <a:prstGeom prst="rect">
            <a:avLst/>
          </a:prstGeom>
          <a:noFill/>
          <a:ln/>
        </p:spPr>
        <p:txBody>
          <a:bodyPr wrap="square" rtlCol="0" anchor="ctr"/>
          <a:lstStyle/>
          <a:p>
            <a:pPr marL="0" indent="0">
              <a:buNone/>
            </a:pPr>
            <a:r>
              <a:rPr lang="en-US" sz="1400" b="1" dirty="0">
                <a:solidFill>
                  <a:srgbClr val="16A34A"/>
                </a:solidFill>
                <a:latin typeface="Arial" pitchFamily="34" charset="0"/>
                <a:ea typeface="Arial" pitchFamily="34" charset="-122"/>
                <a:cs typeface="Arial" pitchFamily="34" charset="-120"/>
              </a:rPr>
              <a:t>Same thread_id = Same conversation (Memory continues)</a:t>
            </a:r>
            <a:endParaRPr lang="en-US" sz="1400" dirty="0"/>
          </a:p>
        </p:txBody>
      </p:sp>
      <p:sp>
        <p:nvSpPr>
          <p:cNvPr id="7" name="Shape 5"/>
          <p:cNvSpPr/>
          <p:nvPr/>
        </p:nvSpPr>
        <p:spPr>
          <a:xfrm>
            <a:off x="457200" y="2423160"/>
            <a:ext cx="3931920" cy="2103120"/>
          </a:xfrm>
          <a:prstGeom prst="roundRect">
            <a:avLst>
              <a:gd name="adj" fmla="val 4348"/>
            </a:avLst>
          </a:prstGeom>
          <a:solidFill>
            <a:srgbClr val="DCFCE7"/>
          </a:solidFill>
          <a:ln/>
        </p:spPr>
        <p:txBody>
          <a:bodyPr/>
          <a:lstStyle/>
          <a:p>
            <a:endParaRPr lang="en-US"/>
          </a:p>
        </p:txBody>
      </p:sp>
      <p:sp>
        <p:nvSpPr>
          <p:cNvPr id="8" name="Text 6"/>
          <p:cNvSpPr/>
          <p:nvPr/>
        </p:nvSpPr>
        <p:spPr>
          <a:xfrm>
            <a:off x="640080" y="2560320"/>
            <a:ext cx="3566160" cy="1965960"/>
          </a:xfrm>
          <a:prstGeom prst="rect">
            <a:avLst/>
          </a:prstGeom>
          <a:noFill/>
          <a:ln/>
        </p:spPr>
        <p:txBody>
          <a:bodyPr wrap="square" rtlCol="0" anchor="t"/>
          <a:lstStyle/>
          <a:p>
            <a:pPr marL="0" indent="0">
              <a:buNone/>
            </a:pPr>
            <a:r>
              <a:rPr lang="en-US" sz="1200" dirty="0">
                <a:solidFill>
                  <a:srgbClr val="475569"/>
                </a:solidFill>
                <a:latin typeface="Arial" pitchFamily="34" charset="0"/>
                <a:ea typeface="Arial" pitchFamily="34" charset="-122"/>
                <a:cs typeface="Arial" pitchFamily="34" charset="-120"/>
              </a:rPr>
              <a:t>thread_id = "user_john"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Call 1: Agent learns John's preferences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Call 2: Agent remembers John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Call 3: Agent STILL remembers John
</a:t>
            </a:r>
            <a:endParaRPr lang="en-US" sz="1200" dirty="0"/>
          </a:p>
          <a:p>
            <a:pPr marL="0" indent="0">
              <a:buNone/>
            </a:pPr>
            <a:r>
              <a:rPr lang="en-US" sz="1200" b="1" dirty="0">
                <a:solidFill>
                  <a:srgbClr val="16A34A"/>
                </a:solidFill>
                <a:latin typeface="Arial" pitchFamily="34" charset="0"/>
                <a:ea typeface="Arial" pitchFamily="34" charset="-122"/>
                <a:cs typeface="Arial" pitchFamily="34" charset="-120"/>
              </a:rPr>
              <a:t>✅ Conversation is CONTINUOUS</a:t>
            </a:r>
            <a:endParaRPr lang="en-US" sz="1200" dirty="0"/>
          </a:p>
        </p:txBody>
      </p:sp>
      <p:sp>
        <p:nvSpPr>
          <p:cNvPr id="9" name="Text 7"/>
          <p:cNvSpPr/>
          <p:nvPr/>
        </p:nvSpPr>
        <p:spPr>
          <a:xfrm>
            <a:off x="4754880" y="2011680"/>
            <a:ext cx="3931920" cy="320040"/>
          </a:xfrm>
          <a:prstGeom prst="rect">
            <a:avLst/>
          </a:prstGeom>
          <a:noFill/>
          <a:ln/>
        </p:spPr>
        <p:txBody>
          <a:bodyPr wrap="square" rtlCol="0" anchor="ctr"/>
          <a:lstStyle/>
          <a:p>
            <a:pPr marL="0" indent="0">
              <a:buNone/>
            </a:pPr>
            <a:r>
              <a:rPr lang="en-US" sz="1400" b="1" dirty="0">
                <a:solidFill>
                  <a:srgbClr val="1E293B"/>
                </a:solidFill>
                <a:latin typeface="Arial" pitchFamily="34" charset="0"/>
                <a:ea typeface="Arial" pitchFamily="34" charset="-122"/>
                <a:cs typeface="Arial" pitchFamily="34" charset="-120"/>
              </a:rPr>
              <a:t>Different thread_id = Isolated conversations (No interference)</a:t>
            </a:r>
            <a:endParaRPr lang="en-US" sz="1400" dirty="0"/>
          </a:p>
        </p:txBody>
      </p:sp>
      <p:sp>
        <p:nvSpPr>
          <p:cNvPr id="10" name="Shape 8"/>
          <p:cNvSpPr/>
          <p:nvPr/>
        </p:nvSpPr>
        <p:spPr>
          <a:xfrm>
            <a:off x="4754880" y="2423160"/>
            <a:ext cx="3931920" cy="2103120"/>
          </a:xfrm>
          <a:prstGeom prst="roundRect">
            <a:avLst>
              <a:gd name="adj" fmla="val 4348"/>
            </a:avLst>
          </a:prstGeom>
          <a:solidFill>
            <a:srgbClr val="F8FAFC"/>
          </a:solidFill>
          <a:ln/>
        </p:spPr>
        <p:txBody>
          <a:bodyPr/>
          <a:lstStyle/>
          <a:p>
            <a:endParaRPr lang="en-US"/>
          </a:p>
        </p:txBody>
      </p:sp>
      <p:sp>
        <p:nvSpPr>
          <p:cNvPr id="11" name="Text 9"/>
          <p:cNvSpPr/>
          <p:nvPr/>
        </p:nvSpPr>
        <p:spPr>
          <a:xfrm>
            <a:off x="4937760" y="2560320"/>
            <a:ext cx="3566160" cy="1965960"/>
          </a:xfrm>
          <a:prstGeom prst="rect">
            <a:avLst/>
          </a:prstGeom>
          <a:noFill/>
          <a:ln/>
        </p:spPr>
        <p:txBody>
          <a:bodyPr wrap="square" rtlCol="0" anchor="t"/>
          <a:lstStyle/>
          <a:p>
            <a:pPr marL="0" indent="0">
              <a:buNone/>
            </a:pPr>
            <a:r>
              <a:rPr lang="en-US" sz="1200" dirty="0">
                <a:solidFill>
                  <a:srgbClr val="475569"/>
                </a:solidFill>
                <a:latin typeface="Arial" pitchFamily="34" charset="0"/>
                <a:ea typeface="Arial" pitchFamily="34" charset="-122"/>
                <a:cs typeface="Arial" pitchFamily="34" charset="-120"/>
              </a:rPr>
              <a:t>thread_id = "user_john"
</a:t>
            </a:r>
            <a:endParaRPr lang="en-US" sz="1200" dirty="0"/>
          </a:p>
          <a:p>
            <a:pPr marL="0" indent="0">
              <a:buNone/>
            </a:pPr>
            <a:r>
              <a:rPr lang="en-US" sz="1200" dirty="0">
                <a:solidFill>
                  <a:srgbClr val="475569"/>
                </a:solidFill>
                <a:latin typeface="Arial" pitchFamily="34" charset="0"/>
                <a:ea typeface="Arial" pitchFamily="34" charset="-122"/>
                <a:cs typeface="Arial" pitchFamily="34" charset="-120"/>
              </a:rPr>
              <a:t>thread_id = "user_sarah"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John's conversations ≠ Sarah's
</a:t>
            </a:r>
            <a:endParaRPr lang="en-US" sz="1200" dirty="0"/>
          </a:p>
          <a:p>
            <a:pPr marL="0" indent="0">
              <a:buNone/>
            </a:pPr>
            <a:r>
              <a:rPr lang="en-US" sz="1200" dirty="0">
                <a:solidFill>
                  <a:srgbClr val="1E293B"/>
                </a:solidFill>
                <a:latin typeface="Arial" pitchFamily="34" charset="0"/>
                <a:ea typeface="Arial" pitchFamily="34" charset="-122"/>
                <a:cs typeface="Arial" pitchFamily="34" charset="-120"/>
              </a:rPr>
              <a:t>Each has their own history
</a:t>
            </a:r>
            <a:endParaRPr lang="en-US" sz="1200" dirty="0"/>
          </a:p>
          <a:p>
            <a:pPr marL="0" indent="0">
              <a:buNone/>
            </a:pPr>
            <a:r>
              <a:rPr lang="en-US" sz="1200" b="1" dirty="0">
                <a:solidFill>
                  <a:srgbClr val="1E293B"/>
                </a:solidFill>
                <a:latin typeface="Arial" pitchFamily="34" charset="0"/>
                <a:ea typeface="Arial" pitchFamily="34" charset="-122"/>
                <a:cs typeface="Arial" pitchFamily="34" charset="-120"/>
              </a:rPr>
              <a:t>✅ Multi-user support is AUTOMATIC</a:t>
            </a:r>
            <a:endParaRPr lang="en-US" sz="1200" dirty="0"/>
          </a:p>
        </p:txBody>
      </p:sp>
      <p:sp>
        <p:nvSpPr>
          <p:cNvPr id="12" name="Text 10"/>
          <p:cNvSpPr/>
          <p:nvPr/>
        </p:nvSpPr>
        <p:spPr>
          <a:xfrm>
            <a:off x="457200" y="4663440"/>
            <a:ext cx="8229600" cy="320040"/>
          </a:xfrm>
          <a:prstGeom prst="rect">
            <a:avLst/>
          </a:prstGeom>
          <a:noFill/>
          <a:ln/>
        </p:spPr>
        <p:txBody>
          <a:bodyPr wrap="square" rtlCol="0" anchor="ctr"/>
          <a:lstStyle/>
          <a:p>
            <a:pPr marL="0" indent="0">
              <a:buNone/>
            </a:pPr>
            <a:r>
              <a:rPr lang="en-US" sz="1300" i="1" dirty="0">
                <a:solidFill>
                  <a:srgbClr val="475569"/>
                </a:solidFill>
                <a:latin typeface="Arial" pitchFamily="34" charset="0"/>
                <a:ea typeface="Arial" pitchFamily="34" charset="-122"/>
                <a:cs typeface="Arial" pitchFamily="34" charset="-120"/>
              </a:rPr>
              <a:t>💡 thread_id is like a conversation ID in a chat app — one per user, one per conversation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marL="0" indent="0">
              <a:buNone/>
            </a:pPr>
            <a:r>
              <a:rPr lang="en-US" sz="4400" b="1" dirty="0">
                <a:solidFill>
                  <a:srgbClr val="FFFFFF"/>
                </a:solidFill>
                <a:latin typeface="Arial" pitchFamily="34" charset="0"/>
                <a:ea typeface="Arial" pitchFamily="34" charset="-122"/>
                <a:cs typeface="Arial" pitchFamily="34" charset="-120"/>
              </a:rPr>
              <a:t>What's Next: Hands-On</a:t>
            </a:r>
            <a:endParaRPr lang="en-US" sz="4400" dirty="0"/>
          </a:p>
        </p:txBody>
      </p:sp>
      <p:sp>
        <p:nvSpPr>
          <p:cNvPr id="3" name="Shape 1"/>
          <p:cNvSpPr/>
          <p:nvPr/>
        </p:nvSpPr>
        <p:spPr>
          <a:xfrm>
            <a:off x="457200" y="2011680"/>
            <a:ext cx="8229600" cy="2560320"/>
          </a:xfrm>
          <a:prstGeom prst="roundRect">
            <a:avLst>
              <a:gd name="adj" fmla="val 3571"/>
            </a:avLst>
          </a:prstGeom>
          <a:solidFill>
            <a:srgbClr val="000000"/>
          </a:solidFill>
          <a:ln w="25400">
            <a:solidFill>
              <a:srgbClr val="0D9488"/>
            </a:solidFill>
            <a:prstDash val="solid"/>
          </a:ln>
        </p:spPr>
        <p:txBody>
          <a:bodyPr/>
          <a:lstStyle/>
          <a:p>
            <a:endParaRPr lang="en-US"/>
          </a:p>
        </p:txBody>
      </p:sp>
      <p:sp>
        <p:nvSpPr>
          <p:cNvPr id="4" name="Text 2"/>
          <p:cNvSpPr/>
          <p:nvPr/>
        </p:nvSpPr>
        <p:spPr>
          <a:xfrm>
            <a:off x="640080" y="2148840"/>
            <a:ext cx="7863840" cy="228600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We'll now run the notebook cells ONE BY ONE:
</a:t>
            </a:r>
            <a:endParaRPr lang="en-US" sz="1400" dirty="0"/>
          </a:p>
          <a:p>
            <a:pPr marL="0" indent="0">
              <a:buNone/>
            </a:pPr>
            <a:r>
              <a:rPr lang="en-US" sz="1400" dirty="0">
                <a:solidFill>
                  <a:srgbClr val="FFFFFF"/>
                </a:solidFill>
                <a:latin typeface="Arial" pitchFamily="34" charset="0"/>
                <a:ea typeface="Arial" pitchFamily="34" charset="-122"/>
                <a:cs typeface="Arial" pitchFamily="34" charset="-120"/>
              </a:rPr>
              <a:t>1️⃣  See the Forgetful Agent (Problem)
</a:t>
            </a:r>
            <a:endParaRPr lang="en-US" sz="1400" dirty="0"/>
          </a:p>
          <a:p>
            <a:pPr marL="0" indent="0">
              <a:buNone/>
            </a:pPr>
            <a:r>
              <a:rPr lang="en-US" sz="1400" dirty="0">
                <a:solidFill>
                  <a:srgbClr val="FFFFFF"/>
                </a:solidFill>
                <a:latin typeface="Arial" pitchFamily="34" charset="0"/>
                <a:ea typeface="Arial" pitchFamily="34" charset="-122"/>
                <a:cs typeface="Arial" pitchFamily="34" charset="-120"/>
              </a:rPr>
              <a:t>2️⃣  Build Approach 1 (Manual List)
</a:t>
            </a:r>
            <a:endParaRPr lang="en-US" sz="1400" dirty="0"/>
          </a:p>
          <a:p>
            <a:pPr marL="0" indent="0">
              <a:buNone/>
            </a:pPr>
            <a:r>
              <a:rPr lang="en-US" sz="1400" dirty="0">
                <a:solidFill>
                  <a:srgbClr val="FFFFFF"/>
                </a:solidFill>
                <a:latin typeface="Arial" pitchFamily="34" charset="0"/>
                <a:ea typeface="Arial" pitchFamily="34" charset="-122"/>
                <a:cs typeface="Arial" pitchFamily="34" charset="-120"/>
              </a:rPr>
              <a:t>3️⃣  Build Approach 2 (MemorySaver)
</a:t>
            </a:r>
            <a:endParaRPr lang="en-US" sz="1400" dirty="0"/>
          </a:p>
          <a:p>
            <a:pPr marL="0" indent="0">
              <a:buNone/>
            </a:pPr>
            <a:r>
              <a:rPr lang="en-US" sz="1400" dirty="0">
                <a:solidFill>
                  <a:srgbClr val="FFFFFF"/>
                </a:solidFill>
                <a:latin typeface="Arial" pitchFamily="34" charset="0"/>
                <a:ea typeface="Arial" pitchFamily="34" charset="-122"/>
                <a:cs typeface="Arial" pitchFamily="34" charset="-120"/>
              </a:rPr>
              <a:t>4️⃣  Build Approach 3 (SqliteSaver)
</a:t>
            </a:r>
            <a:endParaRPr lang="en-US" sz="1400" dirty="0"/>
          </a:p>
          <a:p>
            <a:pPr marL="0" indent="0">
              <a:buNone/>
            </a:pPr>
            <a:r>
              <a:rPr lang="en-US" sz="1400" dirty="0">
                <a:solidFill>
                  <a:srgbClr val="FFFFFF"/>
                </a:solidFill>
                <a:latin typeface="Arial" pitchFamily="34" charset="0"/>
                <a:ea typeface="Arial" pitchFamily="34" charset="-122"/>
                <a:cs typeface="Arial" pitchFamily="34" charset="-120"/>
              </a:rPr>
              <a:t>5️⃣  Compare all three side-by-side
</a:t>
            </a:r>
            <a:endParaRPr lang="en-US" sz="1400" dirty="0"/>
          </a:p>
          <a:p>
            <a:pPr marL="0" indent="0">
              <a:buNone/>
            </a:pPr>
            <a:r>
              <a:rPr lang="en-US" sz="1400" i="1" dirty="0">
                <a:solidFill>
                  <a:srgbClr val="F8FAFC"/>
                </a:solidFill>
                <a:latin typeface="Arial" pitchFamily="34" charset="0"/>
                <a:ea typeface="Arial" pitchFamily="34" charset="-122"/>
                <a:cs typeface="Arial" pitchFamily="34" charset="-120"/>
              </a:rPr>
              <a:t>Each demo will show the SAME conversation with each approach.</a:t>
            </a:r>
            <a:endParaRPr lang="en-US" sz="1400" dirty="0"/>
          </a:p>
        </p:txBody>
      </p:sp>
      <p:sp>
        <p:nvSpPr>
          <p:cNvPr id="5" name="Text 3"/>
          <p:cNvSpPr/>
          <p:nvPr/>
        </p:nvSpPr>
        <p:spPr>
          <a:xfrm>
            <a:off x="457200" y="4663440"/>
            <a:ext cx="8229600" cy="365760"/>
          </a:xfrm>
          <a:prstGeom prst="rect">
            <a:avLst/>
          </a:prstGeom>
          <a:noFill/>
          <a:ln/>
        </p:spPr>
        <p:txBody>
          <a:bodyPr wrap="square" rtlCol="0" anchor="ctr"/>
          <a:lstStyle/>
          <a:p>
            <a:pPr marL="0" indent="0">
              <a:buNone/>
            </a:pPr>
            <a:r>
              <a:rPr lang="en-US" sz="2000" b="1" dirty="0">
                <a:solidFill>
                  <a:srgbClr val="0D9488"/>
                </a:solidFill>
                <a:latin typeface="Arial" pitchFamily="34" charset="0"/>
                <a:ea typeface="Arial" pitchFamily="34" charset="-122"/>
                <a:cs typeface="Arial" pitchFamily="34" charset="-120"/>
              </a:rPr>
              <a:t>Ready? Let's code!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1543</Words>
  <Application>Microsoft Office PowerPoint</Application>
  <PresentationFormat>On-screen Show (16:9)</PresentationFormat>
  <Paragraphs>166</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Memory in LangGraph</dc:title>
  <dc:subject>PptxGenJS Presentation</dc:subject>
  <dc:creator>Sharad Rajore | Zensar Technologies</dc:creator>
  <cp:lastModifiedBy>Sharad Rajore</cp:lastModifiedBy>
  <cp:revision>3</cp:revision>
  <dcterms:created xsi:type="dcterms:W3CDTF">2026-06-24T17:08:03Z</dcterms:created>
  <dcterms:modified xsi:type="dcterms:W3CDTF">2026-06-29T07:22:01Z</dcterms:modified>
</cp:coreProperties>
</file>